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0363c9f9-c0a4-669f-3c66-d5a7b96f58e7}">
          <p14:sldIdLst>
            <p14:sldId id="256"/>
          </p14:sldIdLst>
        </p14:section>
        <p14:section name="Why change" id="{fed6de90-0cde-c3d3-afd8-e4a3e7f2b96c}">
          <p14:sldIdLst>
            <p14:sldId id="257"/>
            <p14:sldId id="258"/>
          </p14:sldIdLst>
        </p14:section>
        <p14:section name="IBM Bob" id="{3b48d900-64a6-2fdf-4509-fc4a7e54c842}">
          <p14:sldIdLst>
            <p14:sldId id="259"/>
            <p14:sldId id="260"/>
          </p14:sldIdLst>
        </p14:section>
        <p14:section name="Demo" id="{03c53319-2dbc-c300-9066-2c479ea9690c}">
          <p14:sldIdLst>
            <p14:sldId id="261"/>
            <p14:sldId id="262"/>
            <p14:sldId id="263"/>
          </p14:sldIdLst>
        </p14:section>
        <p14:section name="Close" id="{b017a86e-6ac8-5f1f-b404-dfc43f998108}">
          <p14:sldIdLst>
            <p14:sldId id="264"/>
            <p14:sldId id="265"/>
            <p14:sldId id="266"/>
          </p14:sldIdLst>
        </p14:section>
        <p14:section name="Appendix: presenter only" id="{9fa2dc56-34cd-9176-da26-db5ae1b2c043}">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 30 sec]  [Checklist: sets up the client scenario]
Thanks for making time today. Harborline asked us a direct question: can AI actually take work off your engineers' plates without creating a governance problem for a FINRA-regulated firm?
In the next 13 minutes I'll answer that with a live demo, not slides. You'll watch a real feature go from an open GitHub issue to a green CI run and a merge-ready pull request, with IBM Bob doing the work and a developer approving every consequential step.
The seven steps on the right are the whole story. Keep them in mind; we'll walk every one.
(Scenario note — fictional client: Harborline Financial Group, a mid-size wealth &amp; asset manager, ~140 engineers, 60+ GitHub repos, GitHub Actions for CI. Audience: VP Engineering, platform lead, and a dev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[0:30–1:45 | 75 sec]  [Checklist #1: CLIENT PAIN POINTS — name them specifically and tie to Harborline]
When we met with your team, everybody told me the same thing: your developers are drowning. Not in complexity — they handle complexity well. They're drowning in process overhead.
Your leads estimated about half of every sprint goes to the work around the code: reading and re-reading the ticket, scaffolding a new service, wiring up lint and tests, writing the commit message, formatting the pull request, and then chasing a red CI run. None of that ships anything, but it eats the sprint.
And AI hasn't fixed it. The tools your developers use today stop at the file. They complete a function or suggest a refactor, but they don't understand your repository, they don't read your GitHub issues, and they don't run your linter or prepare your PR.
The fourth point matters most for a regulated firm like Harborline: AI use is already happening, but it's scattered across individual habits. There's no consistent pattern and no audit trail. That is a risk conversation, not just a productivity one.
[Pause. Ask:] Does that match what you're seeing on your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[1:45–2:30 | 45 sec]  [Checklist #1: VALUE PROPOSITION begins — contrast]
Here's the gap in one picture. On the left is what most AI assistants do: they help you write code inside one file. Everything else — reading the requirement, running the gates, writing up the change — is still on your developer.
On the right is where IBM Bob operates. Bob understands the whole repository. It reads the GitHub issue and plans before it writes. It runs the same lint, test, and build gates your CI runs. It prepares the commit and pull request. And every sub-task goes through an explicit approval gate.
That gap — between writing code and delivering working software — is exactly what Bob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[2:30–3:15 | 45 sec]  [Checklist #1: VALUE PROPOSITION — say the one-sentence version out loud]
So here's the value proposition in one sentence: IBM Bob extends each developer's reach across the full delivery cycle — from a GitHub issue to a green pull request — while the developer stays in control.
Four things make that real:
1. Bob is repo- and issue-aware. The plan it produces fits Harborline's code, not a generic tutorial.
2. It plans first. Work is broken into scope-bounded sub-tasks, and nothing changes until a developer approves.
3. It validates like CI — lint, tests, build — before anything leaves the laptop.
4. It prepares the delivery: the commit message and a PR description a reviewer can act on without a single follow-up question.
For Harborline that means time back in every sprint, and AI usage that's structured and auditable instead of scattered.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[3:15–4:00 | 45 sec]  [Checklist #2: USE CASES — name at least these six, then promise to show them]
Here's where Bob fits in Harborline's engineering lifecycle. Six use cases, and you'll see every one in the demo:
1. Planning and scaffolding a new service from an empty repo — think of the client-portfolio microservices on your roadmap.
2. Issue-driven feature delivery — Bob reads the GitHub issue and implements it.
3. Tests written alongside the code, not bolted on later.
4. Local validation with CI parity — so your pipeline goes green the first time.
5. Commit and PR preparation.
6. And for your compliance team: one standard, auditable pattern for AI-assisted delivery across all 60-plus repos.
Let's stop talking and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[4:00–4:20 | 20 sec]  [Checklist #2: frames the use cases you're about to show]
Here's the roadmap for the demo. I'll briefly recap Part 1 — what Bob built from an empty repository — and then we'll go live with Part 2: one new feature, from an open GitHub issue all the way to a green CI run and a merge-ready pull request.
The app is a portfolio analytics dashboard, the kind of internal tool Harborline's analysts use every day. It tracks IBM against four competitors using market data.
[Timing below each step = your target. Live portion is about 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[4:20–5:35 | 75 sec]  [Checklist #2: USE CASE — plan &amp; scaffold]  [Trim to 45 sec if running long]
[SWITCH TO: Bob IDE, Explorer open on finance-app/]
Before the live part, here's where we started. This entire application was planned and scaffolded by Bob from an empty repository.
I gave Bob one natural-language prompt — analyze the repository and propose an implementation plan — and Bob produced a full HTML architecture report: folder layout, component boundaries, data service, test strategy, even the GitHub branching model. I approved the plan. Bob then scaffolded eleven sub-tasks, one at a time, each with an approval gate. Zero handwritten boilerplate.
[SHOW src/ folders] Notice the architecture: services isolated, hooks encapsulate data fetching, views are props-in, render-out. That isn't accidental — it came from the plan.
[SHOW localhost:5173] Current day view, IBM and four competitors. Tabs wired, tests passing, clean build. And it runs offline in mock mode, which is exactly what you want for CI.
For Harborline: imagine every new service on your roadmap starting from an approved, consistent architecture instead of whatever the last team copy-pasted.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[5:35–11:05 | ~5.5 min LIVE]  [Checklist #2: USE CASES — issue-driven dev, tests, validation, CI, PR prep]
Leave this slide up as your cue card, or switch away entirely. Move deliberately — the IDE↔browser transitions are the moments that land.
(a) [GitHub → Issues] "Here's where the next feature starts. Not a Slack message, not a hallway request — an issue. Issue #1: let the user pick any ticker, render a comparison chart, handle bad symbols gracefully, and leave the existing dashboards untouched. At Harborline, the issue IS the requirement. Bob reads it directly."
(b) [Bob IDE → Agent mode → paste prompt, read it aloud] "Watch what Bob does. It doesn't start generating code. It fetches the issue, reads the title and body, inspects the existing services, hooks and components, and produces a plan that fits THIS codebase."
[When plan appears] "Scope-bounded sub-tasks: extend the data service, add a hook, build the ticker input, wire the new chart view. I can review this before a single file changes. This is the approval gate — I'm in control of what gets written." ← say this line; it's the governance message for Harborline's compliance team.
(c) [Click Approve todo] "Bob works through the sub-tasks in order. It reads existing files before editing them, so it doesn't break what already works. At each step I see what's changing and why; if something looks wrong, I stop it."
[Show new files] "New files on disk. CurrentDayView, WeekView, QuarterView — untouched. Additive, exactly as the issue specified."
(d) [Terminal: cd finance-app &amp;&amp; npm run validate] "Before this goes anywhere near GitHub, Bob runs the same gates CI will run. Zero lint errors, all tests passing — including tests Bob wrote for the new feature — clean production build. Validation is part of the workflow, not an afterthought."
(e) [Show Bob's commit message] git add . / git commit -m "feat: add user-selected company chart (resolves #1)" / git push origin feature/initial-finance-dashboard
[Browser → Actions → refresh] "The push matches the feature/** pattern, so CI kicks off: clean environment, install, lint, tests with VITE_USE_MOCK=true, build, upload dist. Green. The same gates Bob ran locally just passed on a machine GitHub controls. That's what 'ready to review' really means."
(f) [Create PR, paste Bob's description] "Implementation summary, validation results, test counts, CI status. A reviewer knows what changed, why, and that it was validated — without asking the author a single question. The issue drove the work, the branch carried it, the tests validated it, CI confirmed it, the PR documents it. That's the full loop."
BACKUP: If Bob or CI is slow, narrate what it's doing and keep talking value; if something fails, show that Bob surfaces the error and that the approval gate is why that's safe. Have a pre-recorded green run in a second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[11:05–11:50 | 45 sec]  [Checklist #1: closes the loop — pain point → value delivered]
Let me be direct about what you just saw. Bob didn't just write code. It operated inside the workflow your teams already run — GitHub issues, branches, CI, pull requests.
Each pain point you told us about has a direct answer [walk the rows quickly]: setup toil, delivery paperwork, red CI runs, and scattered AI use.
And your developers didn't disappear from that loop. They approved the plan, reviewed the output, and controlled the push. The AI did the implementation and preparation; humans kept oversight over every consequential decision. For a FINRA-regulated firm, that's the difference between AI you can scale and AI you have to police.
That's the value proposition: not autocomplete, not a chatbot — an AI that extends a developer's reach from issue to green PR while they stay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[11:50–13:20 | 90 sec]  [Checklist #3: CALL TO ACTION — give options, RECOMMEND one, propose a date, then ASK]
Here's what I'd like to propose for Harborline. Three ways to go from here:
Option 1 — a hands-on half-day workshop. Your developers run this exact workflow against one of your repositories and leave with a repeatable pattern.
Option 2 — and this is my recommendation — a Proof of Experience. We pick a real open issue from your backlog and deliver it with Bob over two weeks. You judge the output against your own codebase, your own CI, your own review standards.
Option 3 — a 90-minute technical deep dive with your engineering and security leads on the approval-gate model, CI integration, and branch strategy. Many regulated clients do this alongside the PoX.
Concretely: a 30-minute scoping call this week to pick the issue and the repo, kickoff in week two with two of your developers, and a readout in week four.
The question isn't whether your teams will use AI in delivery — they already are. The question is whether that use is structured, auditable, and tied to your engineering process. IBM Bob is how you get there.
[Advance to final slide and ASK the question —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[13:20–13:40 | 20 sec]  [Checklist #3: end on a direct question — this is what earns a 5]
Which of those would be most useful to explore first?
[STOP. Let them answer. If they hesitate:] "Most teams in your position start with the Proof of Experience, because it answers the real question on your own code. Can we get 30 minutes on the calendar this week to pick the issue?"
TOTAL TARGET RUN TIME: ~13:40. Hard ceiling 15:00. If long, trim slide 7 (Part 1 recap) to 45 sec and slide 3 to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Presenter-only. Skip this slide during the recording (or hide it via right-click &gt; Hide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Presenter-only. Rehearse the IDE ↔ browser transitions at least twice; they land hardest with a live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16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94944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977640"/>
            <a:ext cx="6400800" cy="914400"/>
          </a:xfrm>
          <a:prstGeom prst="rect">
            <a:avLst/>
          </a:prstGeom>
          <a:noFill/>
          <a:ln/>
        </p:spPr>
        <p:txBody>
          <a:bodyPr wrap="square" rtlCol="0"/>
          <a:lstStyle>
            <a:lvl1pPr algn="l" indent="0" marL="0">
              <a:buNone/>
              <a:defRPr lang="en-US" sz="1800" dirty="0">
                <a:solidFill>
                  <a:srgbClr val="C6C6C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6F6F6F"/>
                </a:solidFill>
              </a:rPr>
              <a:t>IBM Bob  |  GitHub SDLC Automation</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F6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616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A8A8A8"/>
                </a:solidFill>
              </a:rPr>
              <a:t>IBM Bob  |  GitHub SDLC Automation</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F6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80160"/>
            <a:ext cx="64008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IBM BOB  |  SDLC AUTOMATION</a:t>
            </a:r>
            <a:endParaRPr lang="en-US" sz="1400" dirty="0"/>
          </a:p>
        </p:txBody>
      </p:sp>
      <p:sp>
        <p:nvSpPr>
          <p:cNvPr id="3" name="Text 0"/>
          <p:cNvSpPr/>
          <p:nvPr>
            <p:ph idx="100" type="title" hasCustomPrompt="1"/>
          </p:nvPr>
        </p:nvSpPr>
        <p:spPr>
          <a:xfrm>
            <a:off x="548640" y="1828800"/>
            <a:ext cx="6949440" cy="2011680"/>
          </a:xfrm>
          <a:prstGeom prst="rect">
            <a:avLst/>
          </a:prstGeom>
          <a:noFill/>
          <a:ln/>
        </p:spPr>
        <p:txBody>
          <a:bodyPr wrap="square" lIns="0" tIns="0" rIns="0" bIns="0" rtlCol="0" anchor="t"/>
          <a:lstStyle/>
          <a:p>
            <a:pPr algn="l" indent="0" marL="0">
              <a:buNone/>
            </a:pPr>
            <a:r>
              <a:rPr lang="en-US" sz="4000" b="1" dirty="0">
                <a:solidFill>
                  <a:schemeClr val="bg1"/>
                </a:solidFill>
              </a:rPr>
              <a:t>From GitHub issue to merge-ready pull request</a:t>
            </a:r>
            <a:endParaRPr lang="en-US" sz="4000" dirty="0"/>
          </a:p>
        </p:txBody>
      </p:sp>
      <p:sp>
        <p:nvSpPr>
          <p:cNvPr id="4" name="Text 0"/>
          <p:cNvSpPr/>
          <p:nvPr>
            <p:ph idx="101" type="body" hasCustomPrompt="1"/>
          </p:nvPr>
        </p:nvSpPr>
        <p:spPr>
          <a:xfrm>
            <a:off x="548640" y="3977640"/>
            <a:ext cx="6400800" cy="914400"/>
          </a:xfrm>
          <a:prstGeom prst="rect">
            <a:avLst/>
          </a:prstGeom>
          <a:noFill/>
          <a:ln/>
        </p:spPr>
        <p:txBody>
          <a:bodyPr wrap="square" lIns="0" tIns="0" rIns="0" bIns="0" rtlCol="0" anchor="t"/>
          <a:lstStyle/>
          <a:p>
            <a:pPr algn="l" indent="0" marL="0">
              <a:buNone/>
            </a:pPr>
            <a:r>
              <a:rPr lang="en-US" sz="1800" dirty="0">
                <a:solidFill>
                  <a:srgbClr val="C6C6C6"/>
                </a:solidFill>
              </a:rPr>
              <a:t>A working session for Harborline Financial Group engineering leadership</a:t>
            </a:r>
            <a:endParaRPr lang="en-US" sz="1800" dirty="0"/>
          </a:p>
        </p:txBody>
      </p:sp>
      <p:sp>
        <p:nvSpPr>
          <p:cNvPr id="5" name="Text 3"/>
          <p:cNvSpPr txBox="1"/>
          <p:nvPr/>
        </p:nvSpPr>
        <p:spPr>
          <a:xfrm>
            <a:off x="548640" y="5212080"/>
            <a:ext cx="6400800" cy="640080"/>
          </a:xfrm>
          <a:prstGeom prst="rect">
            <a:avLst/>
          </a:prstGeom>
          <a:noFill/>
          <a:ln/>
        </p:spPr>
        <p:txBody>
          <a:bodyPr wrap="square" lIns="0" tIns="0" rIns="0" bIns="0" rtlCol="0" anchor="ctr"/>
          <a:lstStyle/>
          <a:p>
            <a:pPr indent="0" marL="0">
              <a:buNone/>
            </a:pPr>
            <a:r>
              <a:rPr lang="en-US" sz="1400" b="1" dirty="0">
                <a:solidFill>
                  <a:srgbClr val="FFFFFF"/>
                </a:solidFill>
              </a:rPr>
              <a:t>Dr. George Cross IV</a:t>
            </a:r>
            <a:endParaRPr lang="en-US" sz="1400" dirty="0"/>
          </a:p>
          <a:p>
            <a:pPr indent="0" marL="0">
              <a:buNone/>
            </a:pPr>
            <a:r>
              <a:rPr lang="en-US" sz="1400" dirty="0">
                <a:solidFill>
                  <a:srgbClr val="A8A8A8"/>
                </a:solidFill>
              </a:rPr>
              <a:t>IBM</a:t>
            </a:r>
            <a:endParaRPr lang="en-US" sz="1400" dirty="0"/>
          </a:p>
        </p:txBody>
      </p:sp>
      <p:sp>
        <p:nvSpPr>
          <p:cNvPr id="6" name="loop step 1"/>
          <p:cNvSpPr/>
          <p:nvPr/>
        </p:nvSpPr>
        <p:spPr>
          <a:xfrm>
            <a:off x="8229600" y="777240"/>
            <a:ext cx="3108960" cy="548640"/>
          </a:xfrm>
          <a:prstGeom prst="roundRect">
            <a:avLst>
              <a:gd name="adj" fmla="val 20000"/>
            </a:avLst>
          </a:prstGeom>
          <a:solidFill>
            <a:srgbClr val="262626"/>
          </a:solidFill>
          <a:ln w="19050">
            <a:solidFill>
              <a:schemeClr val="accent1"/>
            </a:solidFill>
            <a:prstDash val="solid"/>
          </a:ln>
        </p:spPr>
      </p:sp>
      <p:sp>
        <p:nvSpPr>
          <p:cNvPr id="7" name="Text 5"/>
          <p:cNvSpPr txBox="1"/>
          <p:nvPr/>
        </p:nvSpPr>
        <p:spPr>
          <a:xfrm>
            <a:off x="8366760" y="86868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8" name="Text 6"/>
          <p:cNvSpPr txBox="1"/>
          <p:nvPr/>
        </p:nvSpPr>
        <p:spPr>
          <a:xfrm>
            <a:off x="8823960" y="777240"/>
            <a:ext cx="2377440" cy="548640"/>
          </a:xfrm>
          <a:prstGeom prst="rect">
            <a:avLst/>
          </a:prstGeom>
          <a:noFill/>
          <a:ln/>
        </p:spPr>
        <p:txBody>
          <a:bodyPr wrap="square" lIns="0" tIns="0" rIns="0" bIns="0" rtlCol="0" anchor="ctr"/>
          <a:lstStyle/>
          <a:p>
            <a:pPr indent="0" marL="0">
              <a:buNone/>
            </a:pPr>
            <a:r>
              <a:rPr lang="en-US" sz="1600" b="1" dirty="0">
                <a:solidFill>
                  <a:srgbClr val="FFFFFF"/>
                </a:solidFill>
              </a:rPr>
              <a:t>Issue</a:t>
            </a:r>
            <a:endParaRPr lang="en-US" sz="1600" dirty="0"/>
          </a:p>
        </p:txBody>
      </p:sp>
      <p:sp>
        <p:nvSpPr>
          <p:cNvPr id="9" name="Shape 7"/>
          <p:cNvSpPr/>
          <p:nvPr/>
        </p:nvSpPr>
        <p:spPr>
          <a:xfrm>
            <a:off x="9784080" y="1325880"/>
            <a:ext cx="0" cy="210312"/>
          </a:xfrm>
          <a:prstGeom prst="line">
            <a:avLst/>
          </a:prstGeom>
          <a:noFill/>
          <a:ln w="19050">
            <a:solidFill>
              <a:srgbClr val="6F6F6F"/>
            </a:solidFill>
            <a:prstDash val="solid"/>
            <a:tailEnd type="triangle"/>
          </a:ln>
        </p:spPr>
      </p:sp>
      <p:sp>
        <p:nvSpPr>
          <p:cNvPr id="10" name="loop step 2"/>
          <p:cNvSpPr/>
          <p:nvPr/>
        </p:nvSpPr>
        <p:spPr>
          <a:xfrm>
            <a:off x="8229600" y="1536192"/>
            <a:ext cx="3108960" cy="548640"/>
          </a:xfrm>
          <a:prstGeom prst="roundRect">
            <a:avLst>
              <a:gd name="adj" fmla="val 20000"/>
            </a:avLst>
          </a:prstGeom>
          <a:solidFill>
            <a:srgbClr val="262626"/>
          </a:solidFill>
          <a:ln w="19050">
            <a:solidFill>
              <a:schemeClr val="accent1"/>
            </a:solidFill>
            <a:prstDash val="solid"/>
          </a:ln>
        </p:spPr>
      </p:sp>
      <p:sp>
        <p:nvSpPr>
          <p:cNvPr id="11" name="Text 9"/>
          <p:cNvSpPr txBox="1"/>
          <p:nvPr/>
        </p:nvSpPr>
        <p:spPr>
          <a:xfrm>
            <a:off x="8366760" y="1627632"/>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12" name="Text 10"/>
          <p:cNvSpPr txBox="1"/>
          <p:nvPr/>
        </p:nvSpPr>
        <p:spPr>
          <a:xfrm>
            <a:off x="8823960" y="1536192"/>
            <a:ext cx="2377440" cy="548640"/>
          </a:xfrm>
          <a:prstGeom prst="rect">
            <a:avLst/>
          </a:prstGeom>
          <a:noFill/>
          <a:ln/>
        </p:spPr>
        <p:txBody>
          <a:bodyPr wrap="square" lIns="0" tIns="0" rIns="0" bIns="0" rtlCol="0" anchor="ctr"/>
          <a:lstStyle/>
          <a:p>
            <a:pPr indent="0" marL="0">
              <a:buNone/>
            </a:pPr>
            <a:r>
              <a:rPr lang="en-US" sz="1600" b="1" dirty="0">
                <a:solidFill>
                  <a:srgbClr val="FFFFFF"/>
                </a:solidFill>
              </a:rPr>
              <a:t>Plan</a:t>
            </a:r>
            <a:endParaRPr lang="en-US" sz="1600" dirty="0"/>
          </a:p>
        </p:txBody>
      </p:sp>
      <p:sp>
        <p:nvSpPr>
          <p:cNvPr id="13" name="Shape 11"/>
          <p:cNvSpPr/>
          <p:nvPr/>
        </p:nvSpPr>
        <p:spPr>
          <a:xfrm>
            <a:off x="9784080" y="2084832"/>
            <a:ext cx="0" cy="210312"/>
          </a:xfrm>
          <a:prstGeom prst="line">
            <a:avLst/>
          </a:prstGeom>
          <a:noFill/>
          <a:ln w="19050">
            <a:solidFill>
              <a:srgbClr val="6F6F6F"/>
            </a:solidFill>
            <a:prstDash val="solid"/>
            <a:tailEnd type="triangle"/>
          </a:ln>
        </p:spPr>
      </p:sp>
      <p:sp>
        <p:nvSpPr>
          <p:cNvPr id="14" name="loop step 3"/>
          <p:cNvSpPr/>
          <p:nvPr/>
        </p:nvSpPr>
        <p:spPr>
          <a:xfrm>
            <a:off x="8229600" y="2295144"/>
            <a:ext cx="3108960" cy="548640"/>
          </a:xfrm>
          <a:prstGeom prst="roundRect">
            <a:avLst>
              <a:gd name="adj" fmla="val 20000"/>
            </a:avLst>
          </a:prstGeom>
          <a:solidFill>
            <a:srgbClr val="262626"/>
          </a:solidFill>
          <a:ln w="19050">
            <a:solidFill>
              <a:schemeClr val="accent3"/>
            </a:solidFill>
            <a:prstDash val="solid"/>
          </a:ln>
        </p:spPr>
      </p:sp>
      <p:sp>
        <p:nvSpPr>
          <p:cNvPr id="15" name="Text 13"/>
          <p:cNvSpPr txBox="1"/>
          <p:nvPr/>
        </p:nvSpPr>
        <p:spPr>
          <a:xfrm>
            <a:off x="8366760" y="2386584"/>
            <a:ext cx="365760" cy="365760"/>
          </a:xfrm>
          <a:prstGeom prst="rect">
            <a:avLst/>
          </a:prstGeom>
          <a:noFill/>
          <a:ln/>
        </p:spPr>
        <p:txBody>
          <a:bodyPr wrap="square" lIns="0" tIns="0" rIns="0" bIns="0" rtlCol="0" anchor="ctr"/>
          <a:lstStyle/>
          <a:p>
            <a:pPr algn="ctr" indent="0" marL="0">
              <a:buNone/>
            </a:pPr>
            <a:r>
              <a:rPr lang="en-US" sz="1400" b="1" dirty="0">
                <a:solidFill>
                  <a:schemeClr val="accent3"/>
                </a:solidFill>
              </a:rPr>
              <a:t>3</a:t>
            </a:r>
            <a:endParaRPr lang="en-US" sz="1400" dirty="0"/>
          </a:p>
        </p:txBody>
      </p:sp>
      <p:sp>
        <p:nvSpPr>
          <p:cNvPr id="16" name="Text 14"/>
          <p:cNvSpPr txBox="1"/>
          <p:nvPr/>
        </p:nvSpPr>
        <p:spPr>
          <a:xfrm>
            <a:off x="8823960" y="2295144"/>
            <a:ext cx="2377440" cy="548640"/>
          </a:xfrm>
          <a:prstGeom prst="rect">
            <a:avLst/>
          </a:prstGeom>
          <a:noFill/>
          <a:ln/>
        </p:spPr>
        <p:txBody>
          <a:bodyPr wrap="square" lIns="0" tIns="0" rIns="0" bIns="0" rtlCol="0" anchor="ctr"/>
          <a:lstStyle/>
          <a:p>
            <a:pPr indent="0" marL="0">
              <a:buNone/>
            </a:pPr>
            <a:r>
              <a:rPr lang="en-US" sz="1600" b="1" dirty="0">
                <a:solidFill>
                  <a:srgbClr val="FFFFFF"/>
                </a:solidFill>
              </a:rPr>
              <a:t>Approve</a:t>
            </a:r>
            <a:endParaRPr lang="en-US" sz="1600" dirty="0"/>
          </a:p>
        </p:txBody>
      </p:sp>
      <p:sp>
        <p:nvSpPr>
          <p:cNvPr id="17" name="Shape 15"/>
          <p:cNvSpPr/>
          <p:nvPr/>
        </p:nvSpPr>
        <p:spPr>
          <a:xfrm>
            <a:off x="9784080" y="2843784"/>
            <a:ext cx="0" cy="210312"/>
          </a:xfrm>
          <a:prstGeom prst="line">
            <a:avLst/>
          </a:prstGeom>
          <a:noFill/>
          <a:ln w="19050">
            <a:solidFill>
              <a:srgbClr val="6F6F6F"/>
            </a:solidFill>
            <a:prstDash val="solid"/>
            <a:tailEnd type="triangle"/>
          </a:ln>
        </p:spPr>
      </p:sp>
      <p:sp>
        <p:nvSpPr>
          <p:cNvPr id="18" name="loop step 4"/>
          <p:cNvSpPr/>
          <p:nvPr/>
        </p:nvSpPr>
        <p:spPr>
          <a:xfrm>
            <a:off x="8229600" y="3054096"/>
            <a:ext cx="3108960" cy="548640"/>
          </a:xfrm>
          <a:prstGeom prst="roundRect">
            <a:avLst>
              <a:gd name="adj" fmla="val 20000"/>
            </a:avLst>
          </a:prstGeom>
          <a:solidFill>
            <a:srgbClr val="262626"/>
          </a:solidFill>
          <a:ln w="19050">
            <a:solidFill>
              <a:schemeClr val="accent1"/>
            </a:solidFill>
            <a:prstDash val="solid"/>
          </a:ln>
        </p:spPr>
      </p:sp>
      <p:sp>
        <p:nvSpPr>
          <p:cNvPr id="19" name="Text 17"/>
          <p:cNvSpPr txBox="1"/>
          <p:nvPr/>
        </p:nvSpPr>
        <p:spPr>
          <a:xfrm>
            <a:off x="8366760" y="3145536"/>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20" name="Text 18"/>
          <p:cNvSpPr txBox="1"/>
          <p:nvPr/>
        </p:nvSpPr>
        <p:spPr>
          <a:xfrm>
            <a:off x="8823960" y="3054096"/>
            <a:ext cx="2377440" cy="548640"/>
          </a:xfrm>
          <a:prstGeom prst="rect">
            <a:avLst/>
          </a:prstGeom>
          <a:noFill/>
          <a:ln/>
        </p:spPr>
        <p:txBody>
          <a:bodyPr wrap="square" lIns="0" tIns="0" rIns="0" bIns="0" rtlCol="0" anchor="ctr"/>
          <a:lstStyle/>
          <a:p>
            <a:pPr indent="0" marL="0">
              <a:buNone/>
            </a:pPr>
            <a:r>
              <a:rPr lang="en-US" sz="1600" b="1" dirty="0">
                <a:solidFill>
                  <a:srgbClr val="FFFFFF"/>
                </a:solidFill>
              </a:rPr>
              <a:t>Implement</a:t>
            </a:r>
            <a:endParaRPr lang="en-US" sz="1600" dirty="0"/>
          </a:p>
        </p:txBody>
      </p:sp>
      <p:sp>
        <p:nvSpPr>
          <p:cNvPr id="21" name="Shape 19"/>
          <p:cNvSpPr/>
          <p:nvPr/>
        </p:nvSpPr>
        <p:spPr>
          <a:xfrm>
            <a:off x="9784080" y="3602736"/>
            <a:ext cx="0" cy="210312"/>
          </a:xfrm>
          <a:prstGeom prst="line">
            <a:avLst/>
          </a:prstGeom>
          <a:noFill/>
          <a:ln w="19050">
            <a:solidFill>
              <a:srgbClr val="6F6F6F"/>
            </a:solidFill>
            <a:prstDash val="solid"/>
            <a:tailEnd type="triangle"/>
          </a:ln>
        </p:spPr>
      </p:sp>
      <p:sp>
        <p:nvSpPr>
          <p:cNvPr id="22" name="loop step 5"/>
          <p:cNvSpPr/>
          <p:nvPr/>
        </p:nvSpPr>
        <p:spPr>
          <a:xfrm>
            <a:off x="8229600" y="3813048"/>
            <a:ext cx="3108960" cy="548640"/>
          </a:xfrm>
          <a:prstGeom prst="roundRect">
            <a:avLst>
              <a:gd name="adj" fmla="val 20000"/>
            </a:avLst>
          </a:prstGeom>
          <a:solidFill>
            <a:srgbClr val="262626"/>
          </a:solidFill>
          <a:ln w="19050">
            <a:solidFill>
              <a:schemeClr val="accent2"/>
            </a:solidFill>
            <a:prstDash val="solid"/>
          </a:ln>
        </p:spPr>
      </p:sp>
      <p:sp>
        <p:nvSpPr>
          <p:cNvPr id="23" name="Text 21"/>
          <p:cNvSpPr txBox="1"/>
          <p:nvPr/>
        </p:nvSpPr>
        <p:spPr>
          <a:xfrm>
            <a:off x="8366760" y="3904488"/>
            <a:ext cx="365760" cy="365760"/>
          </a:xfrm>
          <a:prstGeom prst="rect">
            <a:avLst/>
          </a:prstGeom>
          <a:noFill/>
          <a:ln/>
        </p:spPr>
        <p:txBody>
          <a:bodyPr wrap="square" lIns="0" tIns="0" rIns="0" bIns="0" rtlCol="0" anchor="ctr"/>
          <a:lstStyle/>
          <a:p>
            <a:pPr algn="ctr" indent="0" marL="0">
              <a:buNone/>
            </a:pPr>
            <a:r>
              <a:rPr lang="en-US" sz="1400" b="1" dirty="0">
                <a:solidFill>
                  <a:schemeClr val="accent2"/>
                </a:solidFill>
              </a:rPr>
              <a:t>5</a:t>
            </a:r>
            <a:endParaRPr lang="en-US" sz="1400" dirty="0"/>
          </a:p>
        </p:txBody>
      </p:sp>
      <p:sp>
        <p:nvSpPr>
          <p:cNvPr id="24" name="Text 22"/>
          <p:cNvSpPr txBox="1"/>
          <p:nvPr/>
        </p:nvSpPr>
        <p:spPr>
          <a:xfrm>
            <a:off x="8823960" y="3813048"/>
            <a:ext cx="2377440" cy="548640"/>
          </a:xfrm>
          <a:prstGeom prst="rect">
            <a:avLst/>
          </a:prstGeom>
          <a:noFill/>
          <a:ln/>
        </p:spPr>
        <p:txBody>
          <a:bodyPr wrap="square" lIns="0" tIns="0" rIns="0" bIns="0" rtlCol="0" anchor="ctr"/>
          <a:lstStyle/>
          <a:p>
            <a:pPr indent="0" marL="0">
              <a:buNone/>
            </a:pPr>
            <a:r>
              <a:rPr lang="en-US" sz="1600" b="1" dirty="0">
                <a:solidFill>
                  <a:srgbClr val="FFFFFF"/>
                </a:solidFill>
              </a:rPr>
              <a:t>Validate</a:t>
            </a:r>
            <a:endParaRPr lang="en-US" sz="1600" dirty="0"/>
          </a:p>
        </p:txBody>
      </p:sp>
      <p:sp>
        <p:nvSpPr>
          <p:cNvPr id="25" name="Shape 23"/>
          <p:cNvSpPr/>
          <p:nvPr/>
        </p:nvSpPr>
        <p:spPr>
          <a:xfrm>
            <a:off x="9784080" y="4361688"/>
            <a:ext cx="0" cy="210312"/>
          </a:xfrm>
          <a:prstGeom prst="line">
            <a:avLst/>
          </a:prstGeom>
          <a:noFill/>
          <a:ln w="19050">
            <a:solidFill>
              <a:srgbClr val="6F6F6F"/>
            </a:solidFill>
            <a:prstDash val="solid"/>
            <a:tailEnd type="triangle"/>
          </a:ln>
        </p:spPr>
      </p:sp>
      <p:sp>
        <p:nvSpPr>
          <p:cNvPr id="26" name="loop step 6"/>
          <p:cNvSpPr/>
          <p:nvPr/>
        </p:nvSpPr>
        <p:spPr>
          <a:xfrm>
            <a:off x="8229600" y="4572000"/>
            <a:ext cx="3108960" cy="548640"/>
          </a:xfrm>
          <a:prstGeom prst="roundRect">
            <a:avLst>
              <a:gd name="adj" fmla="val 20000"/>
            </a:avLst>
          </a:prstGeom>
          <a:solidFill>
            <a:srgbClr val="262626"/>
          </a:solidFill>
          <a:ln w="19050">
            <a:solidFill>
              <a:schemeClr val="accent4"/>
            </a:solidFill>
            <a:prstDash val="solid"/>
          </a:ln>
        </p:spPr>
      </p:sp>
      <p:sp>
        <p:nvSpPr>
          <p:cNvPr id="27" name="Text 25"/>
          <p:cNvSpPr txBox="1"/>
          <p:nvPr/>
        </p:nvSpPr>
        <p:spPr>
          <a:xfrm>
            <a:off x="8366760" y="4663440"/>
            <a:ext cx="365760" cy="365760"/>
          </a:xfrm>
          <a:prstGeom prst="rect">
            <a:avLst/>
          </a:prstGeom>
          <a:noFill/>
          <a:ln/>
        </p:spPr>
        <p:txBody>
          <a:bodyPr wrap="square" lIns="0" tIns="0" rIns="0" bIns="0" rtlCol="0" anchor="ctr"/>
          <a:lstStyle/>
          <a:p>
            <a:pPr algn="ctr" indent="0" marL="0">
              <a:buNone/>
            </a:pPr>
            <a:r>
              <a:rPr lang="en-US" sz="1400" b="1" dirty="0">
                <a:solidFill>
                  <a:schemeClr val="accent4"/>
                </a:solidFill>
              </a:rPr>
              <a:t>6</a:t>
            </a:r>
            <a:endParaRPr lang="en-US" sz="1400" dirty="0"/>
          </a:p>
        </p:txBody>
      </p:sp>
      <p:sp>
        <p:nvSpPr>
          <p:cNvPr id="28" name="Text 26"/>
          <p:cNvSpPr txBox="1"/>
          <p:nvPr/>
        </p:nvSpPr>
        <p:spPr>
          <a:xfrm>
            <a:off x="8823960" y="4572000"/>
            <a:ext cx="2377440" cy="548640"/>
          </a:xfrm>
          <a:prstGeom prst="rect">
            <a:avLst/>
          </a:prstGeom>
          <a:noFill/>
          <a:ln/>
        </p:spPr>
        <p:txBody>
          <a:bodyPr wrap="square" lIns="0" tIns="0" rIns="0" bIns="0" rtlCol="0" anchor="ctr"/>
          <a:lstStyle/>
          <a:p>
            <a:pPr indent="0" marL="0">
              <a:buNone/>
            </a:pPr>
            <a:r>
              <a:rPr lang="en-US" sz="1600" b="1" dirty="0">
                <a:solidFill>
                  <a:srgbClr val="FFFFFF"/>
                </a:solidFill>
              </a:rPr>
              <a:t>CI green</a:t>
            </a:r>
            <a:endParaRPr lang="en-US" sz="1600" dirty="0"/>
          </a:p>
        </p:txBody>
      </p:sp>
      <p:sp>
        <p:nvSpPr>
          <p:cNvPr id="29" name="Shape 27"/>
          <p:cNvSpPr/>
          <p:nvPr/>
        </p:nvSpPr>
        <p:spPr>
          <a:xfrm>
            <a:off x="9784080" y="5120640"/>
            <a:ext cx="0" cy="210312"/>
          </a:xfrm>
          <a:prstGeom prst="line">
            <a:avLst/>
          </a:prstGeom>
          <a:noFill/>
          <a:ln w="19050">
            <a:solidFill>
              <a:srgbClr val="6F6F6F"/>
            </a:solidFill>
            <a:prstDash val="solid"/>
            <a:tailEnd type="triangle"/>
          </a:ln>
        </p:spPr>
      </p:sp>
      <p:sp>
        <p:nvSpPr>
          <p:cNvPr id="30" name="loop step 7"/>
          <p:cNvSpPr/>
          <p:nvPr/>
        </p:nvSpPr>
        <p:spPr>
          <a:xfrm>
            <a:off x="8229600" y="5330952"/>
            <a:ext cx="3108960" cy="548640"/>
          </a:xfrm>
          <a:prstGeom prst="roundRect">
            <a:avLst>
              <a:gd name="adj" fmla="val 20000"/>
            </a:avLst>
          </a:prstGeom>
          <a:solidFill>
            <a:srgbClr val="262626"/>
          </a:solidFill>
          <a:ln w="19050">
            <a:solidFill>
              <a:schemeClr val="accent4"/>
            </a:solidFill>
            <a:prstDash val="solid"/>
          </a:ln>
        </p:spPr>
      </p:sp>
      <p:sp>
        <p:nvSpPr>
          <p:cNvPr id="31" name="Text 29"/>
          <p:cNvSpPr txBox="1"/>
          <p:nvPr/>
        </p:nvSpPr>
        <p:spPr>
          <a:xfrm>
            <a:off x="8366760" y="5422392"/>
            <a:ext cx="365760" cy="365760"/>
          </a:xfrm>
          <a:prstGeom prst="rect">
            <a:avLst/>
          </a:prstGeom>
          <a:noFill/>
          <a:ln/>
        </p:spPr>
        <p:txBody>
          <a:bodyPr wrap="square" lIns="0" tIns="0" rIns="0" bIns="0" rtlCol="0" anchor="ctr"/>
          <a:lstStyle/>
          <a:p>
            <a:pPr algn="ctr" indent="0" marL="0">
              <a:buNone/>
            </a:pPr>
            <a:r>
              <a:rPr lang="en-US" sz="1400" b="1" dirty="0">
                <a:solidFill>
                  <a:schemeClr val="accent4"/>
                </a:solidFill>
              </a:rPr>
              <a:t>7</a:t>
            </a:r>
            <a:endParaRPr lang="en-US" sz="1400" dirty="0"/>
          </a:p>
        </p:txBody>
      </p:sp>
      <p:sp>
        <p:nvSpPr>
          <p:cNvPr id="32" name="Text 30"/>
          <p:cNvSpPr txBox="1"/>
          <p:nvPr/>
        </p:nvSpPr>
        <p:spPr>
          <a:xfrm>
            <a:off x="8823960" y="5330952"/>
            <a:ext cx="2377440" cy="548640"/>
          </a:xfrm>
          <a:prstGeom prst="rect">
            <a:avLst/>
          </a:prstGeom>
          <a:noFill/>
          <a:ln/>
        </p:spPr>
        <p:txBody>
          <a:bodyPr wrap="square" lIns="0" tIns="0" rIns="0" bIns="0" rtlCol="0" anchor="ctr"/>
          <a:lstStyle/>
          <a:p>
            <a:pPr indent="0" marL="0">
              <a:buNone/>
            </a:pPr>
            <a:r>
              <a:rPr lang="en-US" sz="1600" b="1" dirty="0">
                <a:solidFill>
                  <a:srgbClr val="FFFFFF"/>
                </a:solidFill>
              </a:rPr>
              <a:t>Pull request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Drowning in process, not complexity</a:t>
            </a:r>
            <a:endParaRPr lang="en-US" sz="3600" dirty="0"/>
          </a:p>
        </p:txBody>
      </p:sp>
      <p:sp>
        <p:nvSpPr>
          <p:cNvPr id="3" name="Text 1"/>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400" dirty="0">
                <a:solidFill>
                  <a:srgbClr val="525252"/>
                </a:solidFill>
              </a:rPr>
              <a:t>Harborline Financial Group (fictional)  ·  ~140 engineers  ·  60+ GitHub repos  ·  FINRA-regulated</a:t>
            </a:r>
            <a:endParaRPr lang="en-US" sz="1400" dirty="0"/>
          </a:p>
        </p:txBody>
      </p:sp>
      <p:sp>
        <p:nvSpPr>
          <p:cNvPr id="4" name="stat card"/>
          <p:cNvSpPr/>
          <p:nvPr/>
        </p:nvSpPr>
        <p:spPr>
          <a:xfrm>
            <a:off x="548640" y="1828800"/>
            <a:ext cx="4023360" cy="4206240"/>
          </a:xfrm>
          <a:prstGeom prst="roundRect">
            <a:avLst>
              <a:gd name="adj" fmla="val 3409"/>
            </a:avLst>
          </a:prstGeom>
          <a:solidFill>
            <a:schemeClr val="bg2"/>
          </a:solidFill>
          <a:ln/>
        </p:spPr>
      </p:sp>
      <p:sp>
        <p:nvSpPr>
          <p:cNvPr id="5" name="Text 3"/>
          <p:cNvSpPr txBox="1"/>
          <p:nvPr/>
        </p:nvSpPr>
        <p:spPr>
          <a:xfrm>
            <a:off x="822960" y="2103120"/>
            <a:ext cx="3566160" cy="1280160"/>
          </a:xfrm>
          <a:prstGeom prst="rect">
            <a:avLst/>
          </a:prstGeom>
          <a:noFill/>
          <a:ln/>
        </p:spPr>
        <p:txBody>
          <a:bodyPr wrap="square" lIns="0" tIns="0" rIns="0" bIns="0" rtlCol="0" anchor="ctr"/>
          <a:lstStyle/>
          <a:p>
            <a:pPr indent="0" marL="0">
              <a:buNone/>
            </a:pPr>
            <a:r>
              <a:rPr lang="en-US" sz="7200" b="1" dirty="0">
                <a:solidFill>
                  <a:schemeClr val="accent1"/>
                </a:solidFill>
              </a:rPr>
              <a:t>~50%</a:t>
            </a:r>
            <a:endParaRPr lang="en-US" sz="7200" dirty="0"/>
          </a:p>
        </p:txBody>
      </p:sp>
      <p:sp>
        <p:nvSpPr>
          <p:cNvPr id="6" name="Text 4"/>
          <p:cNvSpPr txBox="1"/>
          <p:nvPr/>
        </p:nvSpPr>
        <p:spPr>
          <a:xfrm>
            <a:off x="822960" y="3429000"/>
            <a:ext cx="3474720" cy="1005840"/>
          </a:xfrm>
          <a:prstGeom prst="rect">
            <a:avLst/>
          </a:prstGeom>
          <a:noFill/>
          <a:ln/>
        </p:spPr>
        <p:txBody>
          <a:bodyPr wrap="square" lIns="0" tIns="0" rIns="0" bIns="0" rtlCol="0" anchor="t"/>
          <a:lstStyle/>
          <a:p>
            <a:pPr indent="0" marL="0">
              <a:buNone/>
            </a:pPr>
            <a:r>
              <a:rPr lang="en-US" sz="1800" b="1" dirty="0">
                <a:solidFill>
                  <a:schemeClr val="tx1"/>
                </a:solidFill>
              </a:rPr>
              <a:t>of each sprint goes to work around the code, not the code itself</a:t>
            </a:r>
            <a:endParaRPr lang="en-US" sz="1800" dirty="0"/>
          </a:p>
        </p:txBody>
      </p:sp>
      <p:sp>
        <p:nvSpPr>
          <p:cNvPr id="7" name="Text 5"/>
          <p:cNvSpPr txBox="1"/>
          <p:nvPr/>
        </p:nvSpPr>
        <p:spPr>
          <a:xfrm>
            <a:off x="822960" y="4572000"/>
            <a:ext cx="3474720" cy="1097280"/>
          </a:xfrm>
          <a:prstGeom prst="rect">
            <a:avLst/>
          </a:prstGeom>
          <a:noFill/>
          <a:ln/>
        </p:spPr>
        <p:txBody>
          <a:bodyPr wrap="square" lIns="0" tIns="0" rIns="0" bIns="0" rtlCol="0" anchor="t"/>
          <a:lstStyle/>
          <a:p>
            <a:pPr indent="0" marL="0">
              <a:buNone/>
            </a:pPr>
            <a:r>
              <a:rPr lang="en-US" sz="1400" dirty="0">
                <a:solidFill>
                  <a:srgbClr val="525252"/>
                </a:solidFill>
              </a:rPr>
              <a:t>Harborline engineering leads' own estimate from discovery. Features wait on toil, and toil doesn't ship.</a:t>
            </a:r>
            <a:endParaRPr lang="en-US" sz="1400" dirty="0"/>
          </a:p>
        </p:txBody>
      </p:sp>
      <p:sp>
        <p:nvSpPr>
          <p:cNvPr id="8" name="pain 1 circle"/>
          <p:cNvSpPr/>
          <p:nvPr/>
        </p:nvSpPr>
        <p:spPr>
          <a:xfrm>
            <a:off x="5029200" y="1874520"/>
            <a:ext cx="685800" cy="685800"/>
          </a:xfrm>
          <a:prstGeom prst="ellipse">
            <a:avLst/>
          </a:prstGeom>
          <a:solidFill>
            <a:srgbClr val="0F62FE"/>
          </a:solidFill>
          <a:ln/>
        </p:spPr>
      </p:sp>
      <p:pic>
        <p:nvPicPr>
          <p:cNvPr id="9" name="pain 1 icon" descr="preencoded.png">    </p:cNvPr>
          <p:cNvPicPr>
            <a:picLocks noChangeAspect="1"/>
          </p:cNvPicPr>
          <p:nvPr/>
        </p:nvPicPr>
        <p:blipFill>
          <a:blip r:embed="rId1"/>
          <a:stretch>
            <a:fillRect/>
          </a:stretch>
        </p:blipFill>
        <p:spPr>
          <a:xfrm>
            <a:off x="5200650" y="2045970"/>
            <a:ext cx="342900" cy="342900"/>
          </a:xfrm>
          <a:prstGeom prst="rect">
            <a:avLst/>
          </a:prstGeom>
        </p:spPr>
      </p:pic>
      <p:sp>
        <p:nvSpPr>
          <p:cNvPr id="10" name="Text 7"/>
          <p:cNvSpPr txBox="1"/>
          <p:nvPr/>
        </p:nvSpPr>
        <p:spPr>
          <a:xfrm>
            <a:off x="5943600" y="1828800"/>
            <a:ext cx="5669280" cy="411480"/>
          </a:xfrm>
          <a:prstGeom prst="rect">
            <a:avLst/>
          </a:prstGeom>
          <a:noFill/>
          <a:ln/>
        </p:spPr>
        <p:txBody>
          <a:bodyPr wrap="square" lIns="0" tIns="0" rIns="0" bIns="0" rtlCol="0" anchor="ctr"/>
          <a:lstStyle/>
          <a:p>
            <a:pPr indent="0" marL="0">
              <a:buNone/>
            </a:pPr>
            <a:r>
              <a:rPr lang="en-US" sz="1800" b="1" dirty="0">
                <a:solidFill>
                  <a:schemeClr val="tx1"/>
                </a:solidFill>
              </a:rPr>
              <a:t>Setup toil before the first useful line</a:t>
            </a:r>
            <a:endParaRPr lang="en-US" sz="1800" dirty="0"/>
          </a:p>
        </p:txBody>
      </p:sp>
      <p:sp>
        <p:nvSpPr>
          <p:cNvPr id="11" name="Text 8"/>
          <p:cNvSpPr txBox="1"/>
          <p:nvPr/>
        </p:nvSpPr>
        <p:spPr>
          <a:xfrm>
            <a:off x="5943600" y="2240280"/>
            <a:ext cx="5669280" cy="502920"/>
          </a:xfrm>
          <a:prstGeom prst="rect">
            <a:avLst/>
          </a:prstGeom>
          <a:noFill/>
          <a:ln/>
        </p:spPr>
        <p:txBody>
          <a:bodyPr wrap="square" lIns="0" tIns="0" rIns="0" bIns="0" rtlCol="0" anchor="t"/>
          <a:lstStyle/>
          <a:p>
            <a:pPr indent="0" marL="0">
              <a:buNone/>
            </a:pPr>
            <a:r>
              <a:rPr lang="en-US" sz="1400" dirty="0">
                <a:solidFill>
                  <a:srgbClr val="525252"/>
                </a:solidFill>
              </a:rPr>
              <a:t>Reading tickets, scaffolding projects, wiring lint and tests by hand</a:t>
            </a:r>
            <a:endParaRPr lang="en-US" sz="1400" dirty="0"/>
          </a:p>
        </p:txBody>
      </p:sp>
      <p:sp>
        <p:nvSpPr>
          <p:cNvPr id="12" name="pain 2 circle"/>
          <p:cNvSpPr/>
          <p:nvPr/>
        </p:nvSpPr>
        <p:spPr>
          <a:xfrm>
            <a:off x="5029200" y="2953512"/>
            <a:ext cx="685800" cy="685800"/>
          </a:xfrm>
          <a:prstGeom prst="ellipse">
            <a:avLst/>
          </a:prstGeom>
          <a:solidFill>
            <a:srgbClr val="0F62FE"/>
          </a:solidFill>
          <a:ln/>
        </p:spPr>
      </p:sp>
      <p:pic>
        <p:nvPicPr>
          <p:cNvPr id="13" name="pain 2 icon" descr="preencoded.png">    </p:cNvPr>
          <p:cNvPicPr>
            <a:picLocks noChangeAspect="1"/>
          </p:cNvPicPr>
          <p:nvPr/>
        </p:nvPicPr>
        <p:blipFill>
          <a:blip r:embed="rId2"/>
          <a:stretch>
            <a:fillRect/>
          </a:stretch>
        </p:blipFill>
        <p:spPr>
          <a:xfrm>
            <a:off x="5200650" y="3124962"/>
            <a:ext cx="342900" cy="342900"/>
          </a:xfrm>
          <a:prstGeom prst="rect">
            <a:avLst/>
          </a:prstGeom>
        </p:spPr>
      </p:pic>
      <p:sp>
        <p:nvSpPr>
          <p:cNvPr id="14" name="Text 10"/>
          <p:cNvSpPr txBox="1"/>
          <p:nvPr/>
        </p:nvSpPr>
        <p:spPr>
          <a:xfrm>
            <a:off x="5943600" y="2907792"/>
            <a:ext cx="5669280" cy="411480"/>
          </a:xfrm>
          <a:prstGeom prst="rect">
            <a:avLst/>
          </a:prstGeom>
          <a:noFill/>
          <a:ln/>
        </p:spPr>
        <p:txBody>
          <a:bodyPr wrap="square" lIns="0" tIns="0" rIns="0" bIns="0" rtlCol="0" anchor="ctr"/>
          <a:lstStyle/>
          <a:p>
            <a:pPr indent="0" marL="0">
              <a:buNone/>
            </a:pPr>
            <a:r>
              <a:rPr lang="en-US" sz="1800" b="1" dirty="0">
                <a:solidFill>
                  <a:schemeClr val="tx1"/>
                </a:solidFill>
              </a:rPr>
              <a:t>Delivery paperwork after the code</a:t>
            </a:r>
            <a:endParaRPr lang="en-US" sz="1800" dirty="0"/>
          </a:p>
        </p:txBody>
      </p:sp>
      <p:sp>
        <p:nvSpPr>
          <p:cNvPr id="15" name="Text 11"/>
          <p:cNvSpPr txBox="1"/>
          <p:nvPr/>
        </p:nvSpPr>
        <p:spPr>
          <a:xfrm>
            <a:off x="5943600" y="3319272"/>
            <a:ext cx="5669280" cy="502920"/>
          </a:xfrm>
          <a:prstGeom prst="rect">
            <a:avLst/>
          </a:prstGeom>
          <a:noFill/>
          <a:ln/>
        </p:spPr>
        <p:txBody>
          <a:bodyPr wrap="square" lIns="0" tIns="0" rIns="0" bIns="0" rtlCol="0" anchor="t"/>
          <a:lstStyle/>
          <a:p>
            <a:pPr indent="0" marL="0">
              <a:buNone/>
            </a:pPr>
            <a:r>
              <a:rPr lang="en-US" sz="1400" dirty="0">
                <a:solidFill>
                  <a:srgbClr val="525252"/>
                </a:solidFill>
              </a:rPr>
              <a:t>Commit messages, PR write-ups, chasing red CI runs</a:t>
            </a:r>
            <a:endParaRPr lang="en-US" sz="1400" dirty="0"/>
          </a:p>
        </p:txBody>
      </p:sp>
      <p:sp>
        <p:nvSpPr>
          <p:cNvPr id="16" name="pain 3 circle"/>
          <p:cNvSpPr/>
          <p:nvPr/>
        </p:nvSpPr>
        <p:spPr>
          <a:xfrm>
            <a:off x="5029200" y="4032504"/>
            <a:ext cx="685800" cy="685800"/>
          </a:xfrm>
          <a:prstGeom prst="ellipse">
            <a:avLst/>
          </a:prstGeom>
          <a:solidFill>
            <a:srgbClr val="0F62FE"/>
          </a:solidFill>
          <a:ln/>
        </p:spPr>
      </p:sp>
      <p:pic>
        <p:nvPicPr>
          <p:cNvPr id="17" name="pain 3 icon" descr="preencoded.png">    </p:cNvPr>
          <p:cNvPicPr>
            <a:picLocks noChangeAspect="1"/>
          </p:cNvPicPr>
          <p:nvPr/>
        </p:nvPicPr>
        <p:blipFill>
          <a:blip r:embed="rId3"/>
          <a:stretch>
            <a:fillRect/>
          </a:stretch>
        </p:blipFill>
        <p:spPr>
          <a:xfrm>
            <a:off x="5200650" y="4203954"/>
            <a:ext cx="342900" cy="342900"/>
          </a:xfrm>
          <a:prstGeom prst="rect">
            <a:avLst/>
          </a:prstGeom>
        </p:spPr>
      </p:pic>
      <p:sp>
        <p:nvSpPr>
          <p:cNvPr id="18" name="Text 13"/>
          <p:cNvSpPr txBox="1"/>
          <p:nvPr/>
        </p:nvSpPr>
        <p:spPr>
          <a:xfrm>
            <a:off x="5943600" y="3986784"/>
            <a:ext cx="5669280" cy="411480"/>
          </a:xfrm>
          <a:prstGeom prst="rect">
            <a:avLst/>
          </a:prstGeom>
          <a:noFill/>
          <a:ln/>
        </p:spPr>
        <p:txBody>
          <a:bodyPr wrap="square" lIns="0" tIns="0" rIns="0" bIns="0" rtlCol="0" anchor="ctr"/>
          <a:lstStyle/>
          <a:p>
            <a:pPr indent="0" marL="0">
              <a:buNone/>
            </a:pPr>
            <a:r>
              <a:rPr lang="en-US" sz="1800" b="1" dirty="0">
                <a:solidFill>
                  <a:schemeClr val="tx1"/>
                </a:solidFill>
              </a:rPr>
              <a:t>AI that stops at the file</a:t>
            </a:r>
            <a:endParaRPr lang="en-US" sz="1800" dirty="0"/>
          </a:p>
        </p:txBody>
      </p:sp>
      <p:sp>
        <p:nvSpPr>
          <p:cNvPr id="19" name="Text 14"/>
          <p:cNvSpPr txBox="1"/>
          <p:nvPr/>
        </p:nvSpPr>
        <p:spPr>
          <a:xfrm>
            <a:off x="5943600" y="4398264"/>
            <a:ext cx="5669280" cy="502920"/>
          </a:xfrm>
          <a:prstGeom prst="rect">
            <a:avLst/>
          </a:prstGeom>
          <a:noFill/>
          <a:ln/>
        </p:spPr>
        <p:txBody>
          <a:bodyPr wrap="square" lIns="0" tIns="0" rIns="0" bIns="0" rtlCol="0" anchor="t"/>
          <a:lstStyle/>
          <a:p>
            <a:pPr indent="0" marL="0">
              <a:buNone/>
            </a:pPr>
            <a:r>
              <a:rPr lang="en-US" sz="1400" dirty="0">
                <a:solidFill>
                  <a:srgbClr val="525252"/>
                </a:solidFill>
              </a:rPr>
              <a:t>Autocomplete helps a function, but doesn't know the repo, the issue, or the pipeline</a:t>
            </a:r>
            <a:endParaRPr lang="en-US" sz="1400" dirty="0"/>
          </a:p>
        </p:txBody>
      </p:sp>
      <p:sp>
        <p:nvSpPr>
          <p:cNvPr id="20" name="pain 4 circle"/>
          <p:cNvSpPr/>
          <p:nvPr/>
        </p:nvSpPr>
        <p:spPr>
          <a:xfrm>
            <a:off x="5029200" y="5111496"/>
            <a:ext cx="685800" cy="685800"/>
          </a:xfrm>
          <a:prstGeom prst="ellipse">
            <a:avLst/>
          </a:prstGeom>
          <a:solidFill>
            <a:srgbClr val="DA1E28"/>
          </a:solidFill>
          <a:ln/>
        </p:spPr>
      </p:sp>
      <p:pic>
        <p:nvPicPr>
          <p:cNvPr id="21" name="pain 4 icon" descr="preencoded.png">    </p:cNvPr>
          <p:cNvPicPr>
            <a:picLocks noChangeAspect="1"/>
          </p:cNvPicPr>
          <p:nvPr/>
        </p:nvPicPr>
        <p:blipFill>
          <a:blip r:embed="rId4"/>
          <a:stretch>
            <a:fillRect/>
          </a:stretch>
        </p:blipFill>
        <p:spPr>
          <a:xfrm>
            <a:off x="5200650" y="5282946"/>
            <a:ext cx="342900" cy="342900"/>
          </a:xfrm>
          <a:prstGeom prst="rect">
            <a:avLst/>
          </a:prstGeom>
        </p:spPr>
      </p:pic>
      <p:sp>
        <p:nvSpPr>
          <p:cNvPr id="22" name="Text 16"/>
          <p:cNvSpPr txBox="1"/>
          <p:nvPr/>
        </p:nvSpPr>
        <p:spPr>
          <a:xfrm>
            <a:off x="5943600" y="5065776"/>
            <a:ext cx="5669280" cy="411480"/>
          </a:xfrm>
          <a:prstGeom prst="rect">
            <a:avLst/>
          </a:prstGeom>
          <a:noFill/>
          <a:ln/>
        </p:spPr>
        <p:txBody>
          <a:bodyPr wrap="square" lIns="0" tIns="0" rIns="0" bIns="0" rtlCol="0" anchor="ctr"/>
          <a:lstStyle/>
          <a:p>
            <a:pPr indent="0" marL="0">
              <a:buNone/>
            </a:pPr>
            <a:r>
              <a:rPr lang="en-US" sz="1800" b="1" dirty="0">
                <a:solidFill>
                  <a:schemeClr val="tx1"/>
                </a:solidFill>
              </a:rPr>
              <a:t>Scattered, unauditable AI use</a:t>
            </a:r>
            <a:endParaRPr lang="en-US" sz="1800" dirty="0"/>
          </a:p>
        </p:txBody>
      </p:sp>
      <p:sp>
        <p:nvSpPr>
          <p:cNvPr id="23" name="Text 17"/>
          <p:cNvSpPr txBox="1"/>
          <p:nvPr/>
        </p:nvSpPr>
        <p:spPr>
          <a:xfrm>
            <a:off x="5943600" y="5477256"/>
            <a:ext cx="5669280" cy="502920"/>
          </a:xfrm>
          <a:prstGeom prst="rect">
            <a:avLst/>
          </a:prstGeom>
          <a:noFill/>
          <a:ln/>
        </p:spPr>
        <p:txBody>
          <a:bodyPr wrap="square" lIns="0" tIns="0" rIns="0" bIns="0" rtlCol="0" anchor="t"/>
          <a:lstStyle/>
          <a:p>
            <a:pPr indent="0" marL="0">
              <a:buNone/>
            </a:pPr>
            <a:r>
              <a:rPr lang="en-US" sz="1400" dirty="0">
                <a:solidFill>
                  <a:srgbClr val="525252"/>
                </a:solidFill>
              </a:rPr>
              <a:t>Every developer uses AI differently: no standard, no trail for compliance</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F6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The gap AI tools leave open</a:t>
            </a:r>
            <a:endParaRPr lang="en-US" sz="3600" dirty="0"/>
          </a:p>
        </p:txBody>
      </p:sp>
      <p:sp>
        <p:nvSpPr>
          <p:cNvPr id="3" name="File-level AI assistants card"/>
          <p:cNvSpPr/>
          <p:nvPr/>
        </p:nvSpPr>
        <p:spPr>
          <a:xfrm>
            <a:off x="548640" y="1463040"/>
            <a:ext cx="5120640" cy="4572000"/>
          </a:xfrm>
          <a:prstGeom prst="roundRect">
            <a:avLst>
              <a:gd name="adj" fmla="val 3000"/>
            </a:avLst>
          </a:prstGeom>
          <a:solidFill>
            <a:srgbClr val="F2F4F8"/>
          </a:solidFill>
          <a:ln/>
          <a:effectLst>
            <a:outerShdw sx="100000" sy="100000" kx="0" ky="0" algn="bl" rotWithShape="0" blurRad="101600" dist="25400" dir="5400000">
              <a:srgbClr val="000000">
                <a:alpha val="12000"/>
              </a:srgbClr>
            </a:outerShdw>
          </a:effectLst>
        </p:spPr>
      </p:sp>
      <p:sp>
        <p:nvSpPr>
          <p:cNvPr id="4" name="Text 2"/>
          <p:cNvSpPr txBox="1"/>
          <p:nvPr/>
        </p:nvSpPr>
        <p:spPr>
          <a:xfrm>
            <a:off x="914400" y="1691640"/>
            <a:ext cx="4389120" cy="457200"/>
          </a:xfrm>
          <a:prstGeom prst="rect">
            <a:avLst/>
          </a:prstGeom>
          <a:noFill/>
          <a:ln/>
        </p:spPr>
        <p:txBody>
          <a:bodyPr wrap="square" lIns="0" tIns="0" rIns="0" bIns="0" rtlCol="0" anchor="ctr"/>
          <a:lstStyle/>
          <a:p>
            <a:pPr indent="0" marL="0">
              <a:buNone/>
            </a:pPr>
            <a:r>
              <a:rPr lang="en-US" sz="2200" b="1" dirty="0">
                <a:solidFill>
                  <a:srgbClr val="161616"/>
                </a:solidFill>
              </a:rPr>
              <a:t>File-level AI assistants</a:t>
            </a:r>
            <a:endParaRPr lang="en-US" sz="2200" dirty="0"/>
          </a:p>
        </p:txBody>
      </p:sp>
      <p:sp>
        <p:nvSpPr>
          <p:cNvPr id="5" name="Text 3"/>
          <p:cNvSpPr txBox="1"/>
          <p:nvPr/>
        </p:nvSpPr>
        <p:spPr>
          <a:xfrm>
            <a:off x="914400" y="2148840"/>
            <a:ext cx="4389120" cy="365760"/>
          </a:xfrm>
          <a:prstGeom prst="rect">
            <a:avLst/>
          </a:prstGeom>
          <a:noFill/>
          <a:ln/>
        </p:spPr>
        <p:txBody>
          <a:bodyPr wrap="square" lIns="0" tIns="0" rIns="0" bIns="0" rtlCol="0" anchor="ctr"/>
          <a:lstStyle/>
          <a:p>
            <a:pPr indent="0" marL="0">
              <a:buNone/>
            </a:pPr>
            <a:r>
              <a:rPr lang="en-US" sz="1400" dirty="0">
                <a:solidFill>
                  <a:srgbClr val="525252"/>
                </a:solidFill>
              </a:rPr>
              <a:t>Help you write code</a:t>
            </a:r>
            <a:endParaRPr lang="en-US" sz="1400" dirty="0"/>
          </a:p>
        </p:txBody>
      </p:sp>
      <p:pic>
        <p:nvPicPr>
          <p:cNvPr id="6" name="Image 0" descr="preencoded.png">    </p:cNvPr>
          <p:cNvPicPr>
            <a:picLocks noChangeAspect="1"/>
          </p:cNvPicPr>
          <p:nvPr/>
        </p:nvPicPr>
        <p:blipFill>
          <a:blip r:embed="rId1"/>
          <a:stretch>
            <a:fillRect/>
          </a:stretch>
        </p:blipFill>
        <p:spPr>
          <a:xfrm>
            <a:off x="914400" y="2807208"/>
            <a:ext cx="329184" cy="329184"/>
          </a:xfrm>
          <a:prstGeom prst="rect">
            <a:avLst/>
          </a:prstGeom>
        </p:spPr>
      </p:pic>
      <p:sp>
        <p:nvSpPr>
          <p:cNvPr id="7" name="Text 4"/>
          <p:cNvSpPr txBox="1"/>
          <p:nvPr/>
        </p:nvSpPr>
        <p:spPr>
          <a:xfrm>
            <a:off x="1417320" y="2743200"/>
            <a:ext cx="4114800" cy="457200"/>
          </a:xfrm>
          <a:prstGeom prst="rect">
            <a:avLst/>
          </a:prstGeom>
          <a:noFill/>
          <a:ln/>
        </p:spPr>
        <p:txBody>
          <a:bodyPr wrap="square" lIns="0" tIns="0" rIns="0" bIns="0" rtlCol="0" anchor="ctr"/>
          <a:lstStyle/>
          <a:p>
            <a:pPr indent="0" marL="0">
              <a:buNone/>
            </a:pPr>
            <a:r>
              <a:rPr lang="en-US" sz="1600" dirty="0">
                <a:solidFill>
                  <a:srgbClr val="161616"/>
                </a:solidFill>
              </a:rPr>
              <a:t>Suggests code inside one open file</a:t>
            </a:r>
            <a:endParaRPr lang="en-US" sz="1600" dirty="0"/>
          </a:p>
        </p:txBody>
      </p:sp>
      <p:pic>
        <p:nvPicPr>
          <p:cNvPr id="8" name="Image 1" descr="preencoded.png">    </p:cNvPr>
          <p:cNvPicPr>
            <a:picLocks noChangeAspect="1"/>
          </p:cNvPicPr>
          <p:nvPr/>
        </p:nvPicPr>
        <p:blipFill>
          <a:blip r:embed="rId2"/>
          <a:stretch>
            <a:fillRect/>
          </a:stretch>
        </p:blipFill>
        <p:spPr>
          <a:xfrm>
            <a:off x="914400" y="3429000"/>
            <a:ext cx="329184" cy="329184"/>
          </a:xfrm>
          <a:prstGeom prst="rect">
            <a:avLst/>
          </a:prstGeom>
        </p:spPr>
      </p:pic>
      <p:sp>
        <p:nvSpPr>
          <p:cNvPr id="9" name="Text 5"/>
          <p:cNvSpPr txBox="1"/>
          <p:nvPr/>
        </p:nvSpPr>
        <p:spPr>
          <a:xfrm>
            <a:off x="1417320" y="3364992"/>
            <a:ext cx="4114800" cy="457200"/>
          </a:xfrm>
          <a:prstGeom prst="rect">
            <a:avLst/>
          </a:prstGeom>
          <a:noFill/>
          <a:ln/>
        </p:spPr>
        <p:txBody>
          <a:bodyPr wrap="square" lIns="0" tIns="0" rIns="0" bIns="0" rtlCol="0" anchor="ctr"/>
          <a:lstStyle/>
          <a:p>
            <a:pPr indent="0" marL="0">
              <a:buNone/>
            </a:pPr>
            <a:r>
              <a:rPr lang="en-US" sz="1600" dirty="0">
                <a:solidFill>
                  <a:srgbClr val="161616"/>
                </a:solidFill>
              </a:rPr>
              <a:t>Doesn't read the GitHub issue</a:t>
            </a:r>
            <a:endParaRPr lang="en-US" sz="1600" dirty="0"/>
          </a:p>
        </p:txBody>
      </p:sp>
      <p:pic>
        <p:nvPicPr>
          <p:cNvPr id="10" name="Image 2" descr="preencoded.png">    </p:cNvPr>
          <p:cNvPicPr>
            <a:picLocks noChangeAspect="1"/>
          </p:cNvPicPr>
          <p:nvPr/>
        </p:nvPicPr>
        <p:blipFill>
          <a:blip r:embed="rId3"/>
          <a:stretch>
            <a:fillRect/>
          </a:stretch>
        </p:blipFill>
        <p:spPr>
          <a:xfrm>
            <a:off x="914400" y="4050792"/>
            <a:ext cx="329184" cy="329184"/>
          </a:xfrm>
          <a:prstGeom prst="rect">
            <a:avLst/>
          </a:prstGeom>
        </p:spPr>
      </p:pic>
      <p:sp>
        <p:nvSpPr>
          <p:cNvPr id="11" name="Text 6"/>
          <p:cNvSpPr txBox="1"/>
          <p:nvPr/>
        </p:nvSpPr>
        <p:spPr>
          <a:xfrm>
            <a:off x="1417320" y="3986784"/>
            <a:ext cx="4114800" cy="457200"/>
          </a:xfrm>
          <a:prstGeom prst="rect">
            <a:avLst/>
          </a:prstGeom>
          <a:noFill/>
          <a:ln/>
        </p:spPr>
        <p:txBody>
          <a:bodyPr wrap="square" lIns="0" tIns="0" rIns="0" bIns="0" rtlCol="0" anchor="ctr"/>
          <a:lstStyle/>
          <a:p>
            <a:pPr indent="0" marL="0">
              <a:buNone/>
            </a:pPr>
            <a:r>
              <a:rPr lang="en-US" sz="1600" dirty="0">
                <a:solidFill>
                  <a:srgbClr val="161616"/>
                </a:solidFill>
              </a:rPr>
              <a:t>You run lint, tests, and build</a:t>
            </a:r>
            <a:endParaRPr lang="en-US" sz="1600" dirty="0"/>
          </a:p>
        </p:txBody>
      </p:sp>
      <p:pic>
        <p:nvPicPr>
          <p:cNvPr id="12" name="Image 3" descr="preencoded.png">    </p:cNvPr>
          <p:cNvPicPr>
            <a:picLocks noChangeAspect="1"/>
          </p:cNvPicPr>
          <p:nvPr/>
        </p:nvPicPr>
        <p:blipFill>
          <a:blip r:embed="rId4"/>
          <a:stretch>
            <a:fillRect/>
          </a:stretch>
        </p:blipFill>
        <p:spPr>
          <a:xfrm>
            <a:off x="914400" y="4672584"/>
            <a:ext cx="329184" cy="329184"/>
          </a:xfrm>
          <a:prstGeom prst="rect">
            <a:avLst/>
          </a:prstGeom>
        </p:spPr>
      </p:pic>
      <p:sp>
        <p:nvSpPr>
          <p:cNvPr id="13" name="Text 7"/>
          <p:cNvSpPr txBox="1"/>
          <p:nvPr/>
        </p:nvSpPr>
        <p:spPr>
          <a:xfrm>
            <a:off x="1417320" y="4608576"/>
            <a:ext cx="4114800" cy="457200"/>
          </a:xfrm>
          <a:prstGeom prst="rect">
            <a:avLst/>
          </a:prstGeom>
          <a:noFill/>
          <a:ln/>
        </p:spPr>
        <p:txBody>
          <a:bodyPr wrap="square" lIns="0" tIns="0" rIns="0" bIns="0" rtlCol="0" anchor="ctr"/>
          <a:lstStyle/>
          <a:p>
            <a:pPr indent="0" marL="0">
              <a:buNone/>
            </a:pPr>
            <a:r>
              <a:rPr lang="en-US" sz="1600" dirty="0">
                <a:solidFill>
                  <a:srgbClr val="161616"/>
                </a:solidFill>
              </a:rPr>
              <a:t>You write the commit and the PR</a:t>
            </a:r>
            <a:endParaRPr lang="en-US" sz="1600" dirty="0"/>
          </a:p>
        </p:txBody>
      </p:sp>
      <p:pic>
        <p:nvPicPr>
          <p:cNvPr id="14" name="Image 4" descr="preencoded.png">    </p:cNvPr>
          <p:cNvPicPr>
            <a:picLocks noChangeAspect="1"/>
          </p:cNvPicPr>
          <p:nvPr/>
        </p:nvPicPr>
        <p:blipFill>
          <a:blip r:embed="rId5"/>
          <a:stretch>
            <a:fillRect/>
          </a:stretch>
        </p:blipFill>
        <p:spPr>
          <a:xfrm>
            <a:off x="914400" y="5294376"/>
            <a:ext cx="329184" cy="329184"/>
          </a:xfrm>
          <a:prstGeom prst="rect">
            <a:avLst/>
          </a:prstGeom>
        </p:spPr>
      </p:pic>
      <p:sp>
        <p:nvSpPr>
          <p:cNvPr id="15" name="Text 8"/>
          <p:cNvSpPr txBox="1"/>
          <p:nvPr/>
        </p:nvSpPr>
        <p:spPr>
          <a:xfrm>
            <a:off x="1417320" y="5230368"/>
            <a:ext cx="4114800" cy="457200"/>
          </a:xfrm>
          <a:prstGeom prst="rect">
            <a:avLst/>
          </a:prstGeom>
          <a:noFill/>
          <a:ln/>
        </p:spPr>
        <p:txBody>
          <a:bodyPr wrap="square" lIns="0" tIns="0" rIns="0" bIns="0" rtlCol="0" anchor="ctr"/>
          <a:lstStyle/>
          <a:p>
            <a:pPr indent="0" marL="0">
              <a:buNone/>
            </a:pPr>
            <a:r>
              <a:rPr lang="en-US" sz="1600" dirty="0">
                <a:solidFill>
                  <a:srgbClr val="161616"/>
                </a:solidFill>
              </a:rPr>
              <a:t>Ad hoc prompts, no approval trail</a:t>
            </a:r>
            <a:endParaRPr lang="en-US" sz="1600" dirty="0"/>
          </a:p>
        </p:txBody>
      </p:sp>
      <p:sp>
        <p:nvSpPr>
          <p:cNvPr id="16" name="IBM Bob card"/>
          <p:cNvSpPr/>
          <p:nvPr/>
        </p:nvSpPr>
        <p:spPr>
          <a:xfrm>
            <a:off x="6492240" y="1463040"/>
            <a:ext cx="5120640" cy="4572000"/>
          </a:xfrm>
          <a:prstGeom prst="roundRect">
            <a:avLst>
              <a:gd name="adj" fmla="val 3000"/>
            </a:avLst>
          </a:prstGeom>
          <a:solidFill>
            <a:srgbClr val="161616"/>
          </a:solidFill>
          <a:ln/>
          <a:effectLst>
            <a:outerShdw sx="100000" sy="100000" kx="0" ky="0" algn="bl" rotWithShape="0" blurRad="101600" dist="25400" dir="5400000">
              <a:srgbClr val="000000">
                <a:alpha val="12000"/>
              </a:srgbClr>
            </a:outerShdw>
          </a:effectLst>
        </p:spPr>
      </p:sp>
      <p:sp>
        <p:nvSpPr>
          <p:cNvPr id="17" name="Text 10"/>
          <p:cNvSpPr txBox="1"/>
          <p:nvPr/>
        </p:nvSpPr>
        <p:spPr>
          <a:xfrm>
            <a:off x="6858000" y="1691640"/>
            <a:ext cx="4389120" cy="457200"/>
          </a:xfrm>
          <a:prstGeom prst="rect">
            <a:avLst/>
          </a:prstGeom>
          <a:noFill/>
          <a:ln/>
        </p:spPr>
        <p:txBody>
          <a:bodyPr wrap="square" lIns="0" tIns="0" rIns="0" bIns="0" rtlCol="0" anchor="ctr"/>
          <a:lstStyle/>
          <a:p>
            <a:pPr indent="0" marL="0">
              <a:buNone/>
            </a:pPr>
            <a:r>
              <a:rPr lang="en-US" sz="2200" b="1" dirty="0">
                <a:solidFill>
                  <a:srgbClr val="FFFFFF"/>
                </a:solidFill>
              </a:rPr>
              <a:t>IBM Bob</a:t>
            </a:r>
            <a:endParaRPr lang="en-US" sz="2200" dirty="0"/>
          </a:p>
        </p:txBody>
      </p:sp>
      <p:sp>
        <p:nvSpPr>
          <p:cNvPr id="18" name="Text 11"/>
          <p:cNvSpPr txBox="1"/>
          <p:nvPr/>
        </p:nvSpPr>
        <p:spPr>
          <a:xfrm>
            <a:off x="6858000" y="2148840"/>
            <a:ext cx="4389120" cy="365760"/>
          </a:xfrm>
          <a:prstGeom prst="rect">
            <a:avLst/>
          </a:prstGeom>
          <a:noFill/>
          <a:ln/>
        </p:spPr>
        <p:txBody>
          <a:bodyPr wrap="square" lIns="0" tIns="0" rIns="0" bIns="0" rtlCol="0" anchor="ctr"/>
          <a:lstStyle/>
          <a:p>
            <a:pPr indent="0" marL="0">
              <a:buNone/>
            </a:pPr>
            <a:r>
              <a:rPr lang="en-US" sz="1400" dirty="0">
                <a:solidFill>
                  <a:srgbClr val="C6C6C6"/>
                </a:solidFill>
              </a:rPr>
              <a:t>Helps you deliver working software</a:t>
            </a:r>
            <a:endParaRPr lang="en-US" sz="1400" dirty="0"/>
          </a:p>
        </p:txBody>
      </p:sp>
      <p:pic>
        <p:nvPicPr>
          <p:cNvPr id="19" name="Image 5" descr="preencoded.png">    </p:cNvPr>
          <p:cNvPicPr>
            <a:picLocks noChangeAspect="1"/>
          </p:cNvPicPr>
          <p:nvPr/>
        </p:nvPicPr>
        <p:blipFill>
          <a:blip r:embed="rId6"/>
          <a:stretch>
            <a:fillRect/>
          </a:stretch>
        </p:blipFill>
        <p:spPr>
          <a:xfrm>
            <a:off x="6858000" y="2807208"/>
            <a:ext cx="329184" cy="329184"/>
          </a:xfrm>
          <a:prstGeom prst="rect">
            <a:avLst/>
          </a:prstGeom>
        </p:spPr>
      </p:pic>
      <p:sp>
        <p:nvSpPr>
          <p:cNvPr id="20" name="Text 12"/>
          <p:cNvSpPr txBox="1"/>
          <p:nvPr/>
        </p:nvSpPr>
        <p:spPr>
          <a:xfrm>
            <a:off x="7360920" y="2743200"/>
            <a:ext cx="4114800" cy="457200"/>
          </a:xfrm>
          <a:prstGeom prst="rect">
            <a:avLst/>
          </a:prstGeom>
          <a:noFill/>
          <a:ln/>
        </p:spPr>
        <p:txBody>
          <a:bodyPr wrap="square" lIns="0" tIns="0" rIns="0" bIns="0" rtlCol="0" anchor="ctr"/>
          <a:lstStyle/>
          <a:p>
            <a:pPr indent="0" marL="0">
              <a:buNone/>
            </a:pPr>
            <a:r>
              <a:rPr lang="en-US" sz="1600" dirty="0">
                <a:solidFill>
                  <a:srgbClr val="FFFFFF"/>
                </a:solidFill>
              </a:rPr>
              <a:t>Understands the whole repository</a:t>
            </a:r>
            <a:endParaRPr lang="en-US" sz="1600" dirty="0"/>
          </a:p>
        </p:txBody>
      </p:sp>
      <p:pic>
        <p:nvPicPr>
          <p:cNvPr id="21" name="Image 6" descr="preencoded.png">    </p:cNvPr>
          <p:cNvPicPr>
            <a:picLocks noChangeAspect="1"/>
          </p:cNvPicPr>
          <p:nvPr/>
        </p:nvPicPr>
        <p:blipFill>
          <a:blip r:embed="rId7"/>
          <a:stretch>
            <a:fillRect/>
          </a:stretch>
        </p:blipFill>
        <p:spPr>
          <a:xfrm>
            <a:off x="6858000" y="3429000"/>
            <a:ext cx="329184" cy="329184"/>
          </a:xfrm>
          <a:prstGeom prst="rect">
            <a:avLst/>
          </a:prstGeom>
        </p:spPr>
      </p:pic>
      <p:sp>
        <p:nvSpPr>
          <p:cNvPr id="22" name="Text 13"/>
          <p:cNvSpPr txBox="1"/>
          <p:nvPr/>
        </p:nvSpPr>
        <p:spPr>
          <a:xfrm>
            <a:off x="7360920" y="3364992"/>
            <a:ext cx="4114800" cy="457200"/>
          </a:xfrm>
          <a:prstGeom prst="rect">
            <a:avLst/>
          </a:prstGeom>
          <a:noFill/>
          <a:ln/>
        </p:spPr>
        <p:txBody>
          <a:bodyPr wrap="square" lIns="0" tIns="0" rIns="0" bIns="0" rtlCol="0" anchor="ctr"/>
          <a:lstStyle/>
          <a:p>
            <a:pPr indent="0" marL="0">
              <a:buNone/>
            </a:pPr>
            <a:r>
              <a:rPr lang="en-US" sz="1600" dirty="0">
                <a:solidFill>
                  <a:srgbClr val="FFFFFF"/>
                </a:solidFill>
              </a:rPr>
              <a:t>Reads the issue and plans the work first</a:t>
            </a:r>
            <a:endParaRPr lang="en-US" sz="1600" dirty="0"/>
          </a:p>
        </p:txBody>
      </p:sp>
      <p:pic>
        <p:nvPicPr>
          <p:cNvPr id="23" name="Image 7" descr="preencoded.png">    </p:cNvPr>
          <p:cNvPicPr>
            <a:picLocks noChangeAspect="1"/>
          </p:cNvPicPr>
          <p:nvPr/>
        </p:nvPicPr>
        <p:blipFill>
          <a:blip r:embed="rId8"/>
          <a:stretch>
            <a:fillRect/>
          </a:stretch>
        </p:blipFill>
        <p:spPr>
          <a:xfrm>
            <a:off x="6858000" y="4050792"/>
            <a:ext cx="329184" cy="329184"/>
          </a:xfrm>
          <a:prstGeom prst="rect">
            <a:avLst/>
          </a:prstGeom>
        </p:spPr>
      </p:pic>
      <p:sp>
        <p:nvSpPr>
          <p:cNvPr id="24" name="Text 14"/>
          <p:cNvSpPr txBox="1"/>
          <p:nvPr/>
        </p:nvSpPr>
        <p:spPr>
          <a:xfrm>
            <a:off x="7360920" y="3986784"/>
            <a:ext cx="4114800" cy="457200"/>
          </a:xfrm>
          <a:prstGeom prst="rect">
            <a:avLst/>
          </a:prstGeom>
          <a:noFill/>
          <a:ln/>
        </p:spPr>
        <p:txBody>
          <a:bodyPr wrap="square" lIns="0" tIns="0" rIns="0" bIns="0" rtlCol="0" anchor="ctr"/>
          <a:lstStyle/>
          <a:p>
            <a:pPr indent="0" marL="0">
              <a:buNone/>
            </a:pPr>
            <a:r>
              <a:rPr lang="en-US" sz="1600" dirty="0">
                <a:solidFill>
                  <a:srgbClr val="FFFFFF"/>
                </a:solidFill>
              </a:rPr>
              <a:t>Runs the same gates CI will run</a:t>
            </a:r>
            <a:endParaRPr lang="en-US" sz="1600" dirty="0"/>
          </a:p>
        </p:txBody>
      </p:sp>
      <p:pic>
        <p:nvPicPr>
          <p:cNvPr id="25" name="Image 8" descr="preencoded.png">    </p:cNvPr>
          <p:cNvPicPr>
            <a:picLocks noChangeAspect="1"/>
          </p:cNvPicPr>
          <p:nvPr/>
        </p:nvPicPr>
        <p:blipFill>
          <a:blip r:embed="rId9"/>
          <a:stretch>
            <a:fillRect/>
          </a:stretch>
        </p:blipFill>
        <p:spPr>
          <a:xfrm>
            <a:off x="6858000" y="4672584"/>
            <a:ext cx="329184" cy="329184"/>
          </a:xfrm>
          <a:prstGeom prst="rect">
            <a:avLst/>
          </a:prstGeom>
        </p:spPr>
      </p:pic>
      <p:sp>
        <p:nvSpPr>
          <p:cNvPr id="26" name="Text 15"/>
          <p:cNvSpPr txBox="1"/>
          <p:nvPr/>
        </p:nvSpPr>
        <p:spPr>
          <a:xfrm>
            <a:off x="7360920" y="4608576"/>
            <a:ext cx="4114800" cy="457200"/>
          </a:xfrm>
          <a:prstGeom prst="rect">
            <a:avLst/>
          </a:prstGeom>
          <a:noFill/>
          <a:ln/>
        </p:spPr>
        <p:txBody>
          <a:bodyPr wrap="square" lIns="0" tIns="0" rIns="0" bIns="0" rtlCol="0" anchor="ctr"/>
          <a:lstStyle/>
          <a:p>
            <a:pPr indent="0" marL="0">
              <a:buNone/>
            </a:pPr>
            <a:r>
              <a:rPr lang="en-US" sz="1600" dirty="0">
                <a:solidFill>
                  <a:srgbClr val="FFFFFF"/>
                </a:solidFill>
              </a:rPr>
              <a:t>Prepares the commit and PR description</a:t>
            </a:r>
            <a:endParaRPr lang="en-US" sz="1600" dirty="0"/>
          </a:p>
        </p:txBody>
      </p:sp>
      <p:pic>
        <p:nvPicPr>
          <p:cNvPr id="27" name="Image 9" descr="preencoded.png">    </p:cNvPr>
          <p:cNvPicPr>
            <a:picLocks noChangeAspect="1"/>
          </p:cNvPicPr>
          <p:nvPr/>
        </p:nvPicPr>
        <p:blipFill>
          <a:blip r:embed="rId10"/>
          <a:stretch>
            <a:fillRect/>
          </a:stretch>
        </p:blipFill>
        <p:spPr>
          <a:xfrm>
            <a:off x="6858000" y="5294376"/>
            <a:ext cx="329184" cy="329184"/>
          </a:xfrm>
          <a:prstGeom prst="rect">
            <a:avLst/>
          </a:prstGeom>
        </p:spPr>
      </p:pic>
      <p:sp>
        <p:nvSpPr>
          <p:cNvPr id="28" name="Text 16"/>
          <p:cNvSpPr txBox="1"/>
          <p:nvPr/>
        </p:nvSpPr>
        <p:spPr>
          <a:xfrm>
            <a:off x="7360920" y="5230368"/>
            <a:ext cx="4114800" cy="457200"/>
          </a:xfrm>
          <a:prstGeom prst="rect">
            <a:avLst/>
          </a:prstGeom>
          <a:noFill/>
          <a:ln/>
        </p:spPr>
        <p:txBody>
          <a:bodyPr wrap="square" lIns="0" tIns="0" rIns="0" bIns="0" rtlCol="0" anchor="ctr"/>
          <a:lstStyle/>
          <a:p>
            <a:pPr indent="0" marL="0">
              <a:buNone/>
            </a:pPr>
            <a:r>
              <a:rPr lang="en-US" sz="1600" dirty="0">
                <a:solidFill>
                  <a:srgbClr val="FFFFFF"/>
                </a:solidFill>
              </a:rPr>
              <a:t>Explicit approval gate on every sub-task</a:t>
            </a:r>
            <a:endParaRPr lang="en-US" sz="1600" dirty="0"/>
          </a:p>
        </p:txBody>
      </p:sp>
      <p:sp>
        <p:nvSpPr>
          <p:cNvPr id="29" name="gap arrow circle"/>
          <p:cNvSpPr/>
          <p:nvPr/>
        </p:nvSpPr>
        <p:spPr>
          <a:xfrm>
            <a:off x="5733288" y="3355848"/>
            <a:ext cx="731520" cy="731520"/>
          </a:xfrm>
          <a:prstGeom prst="ellipse">
            <a:avLst/>
          </a:prstGeom>
          <a:solidFill>
            <a:schemeClr val="accent1"/>
          </a:solidFill>
          <a:ln w="38100">
            <a:solidFill>
              <a:srgbClr val="FFFFFF"/>
            </a:solidFill>
            <a:prstDash val="solid"/>
          </a:ln>
        </p:spPr>
      </p:sp>
      <p:sp>
        <p:nvSpPr>
          <p:cNvPr id="30" name="Text 18"/>
          <p:cNvSpPr txBox="1"/>
          <p:nvPr/>
        </p:nvSpPr>
        <p:spPr>
          <a:xfrm>
            <a:off x="5733288" y="3355848"/>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rPr>
              <a:t>→</a:t>
            </a:r>
            <a:endParaRPr lang="en-US" sz="28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F6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IBM Bob works inside your delivery loop</a:t>
            </a:r>
            <a:endParaRPr lang="en-US" sz="3600" dirty="0"/>
          </a:p>
        </p:txBody>
      </p:sp>
      <p:sp>
        <p:nvSpPr>
          <p:cNvPr id="3" name="Text 1"/>
          <p:cNvSpPr txBox="1"/>
          <p:nvPr/>
        </p:nvSpPr>
        <p:spPr>
          <a:xfrm>
            <a:off x="548640" y="1325880"/>
            <a:ext cx="11064240" cy="822960"/>
          </a:xfrm>
          <a:prstGeom prst="rect">
            <a:avLst/>
          </a:prstGeom>
          <a:noFill/>
          <a:ln/>
        </p:spPr>
        <p:txBody>
          <a:bodyPr wrap="square" lIns="0" tIns="0" rIns="0" bIns="0" rtlCol="0" anchor="t"/>
          <a:lstStyle/>
          <a:p>
            <a:pPr indent="0" marL="0">
              <a:buNone/>
            </a:pPr>
            <a:r>
              <a:rPr lang="en-US" sz="2000" dirty="0">
                <a:solidFill>
                  <a:schemeClr val="tx1"/>
                </a:solidFill>
              </a:rPr>
              <a:t>An AI that extends each developer's reach across the full delivery cycle, </a:t>
            </a:r>
            <a:pPr indent="0" marL="0">
              <a:buNone/>
            </a:pPr>
            <a:r>
              <a:rPr lang="en-US" sz="2000" b="1" dirty="0">
                <a:solidFill>
                  <a:schemeClr val="accent1"/>
                </a:solidFill>
              </a:rPr>
              <a:t>from GitHub issue to green pull request, while the developer stays in control.</a:t>
            </a:r>
            <a:endParaRPr lang="en-US" sz="2000" dirty="0"/>
          </a:p>
        </p:txBody>
      </p:sp>
      <p:sp>
        <p:nvSpPr>
          <p:cNvPr id="4" name="pillar 1"/>
          <p:cNvSpPr/>
          <p:nvPr/>
        </p:nvSpPr>
        <p:spPr>
          <a:xfrm>
            <a:off x="548640" y="2423160"/>
            <a:ext cx="2606040" cy="3566160"/>
          </a:xfrm>
          <a:prstGeom prst="roundRect">
            <a:avLst>
              <a:gd name="adj" fmla="val 5263"/>
            </a:avLst>
          </a:prstGeom>
          <a:solidFill>
            <a:schemeClr val="bg2"/>
          </a:solidFill>
          <a:ln/>
        </p:spPr>
      </p:sp>
      <p:sp>
        <p:nvSpPr>
          <p:cNvPr id="5" name="pillar 1 circle"/>
          <p:cNvSpPr/>
          <p:nvPr/>
        </p:nvSpPr>
        <p:spPr>
          <a:xfrm>
            <a:off x="822960" y="2697480"/>
            <a:ext cx="777240" cy="777240"/>
          </a:xfrm>
          <a:prstGeom prst="ellipse">
            <a:avLst/>
          </a:prstGeom>
          <a:solidFill>
            <a:srgbClr val="0F62FE"/>
          </a:solidFill>
          <a:ln/>
        </p:spPr>
      </p:sp>
      <p:pic>
        <p:nvPicPr>
          <p:cNvPr id="6" name="pillar 1 icon" descr="preencoded.png">    </p:cNvPr>
          <p:cNvPicPr>
            <a:picLocks noChangeAspect="1"/>
          </p:cNvPicPr>
          <p:nvPr/>
        </p:nvPicPr>
        <p:blipFill>
          <a:blip r:embed="rId1"/>
          <a:stretch>
            <a:fillRect/>
          </a:stretch>
        </p:blipFill>
        <p:spPr>
          <a:xfrm>
            <a:off x="1017270" y="2891790"/>
            <a:ext cx="388620" cy="388620"/>
          </a:xfrm>
          <a:prstGeom prst="rect">
            <a:avLst/>
          </a:prstGeom>
        </p:spPr>
      </p:pic>
      <p:sp>
        <p:nvSpPr>
          <p:cNvPr id="7" name="Text 4"/>
          <p:cNvSpPr txBox="1"/>
          <p:nvPr/>
        </p:nvSpPr>
        <p:spPr>
          <a:xfrm>
            <a:off x="822960" y="3657600"/>
            <a:ext cx="2148840" cy="777240"/>
          </a:xfrm>
          <a:prstGeom prst="rect">
            <a:avLst/>
          </a:prstGeom>
          <a:noFill/>
          <a:ln/>
        </p:spPr>
        <p:txBody>
          <a:bodyPr wrap="square" lIns="0" tIns="0" rIns="0" bIns="0" rtlCol="0" anchor="t"/>
          <a:lstStyle/>
          <a:p>
            <a:pPr indent="0" marL="0">
              <a:buNone/>
            </a:pPr>
            <a:r>
              <a:rPr lang="en-US" sz="1800" b="1" dirty="0">
                <a:solidFill>
                  <a:schemeClr val="tx1"/>
                </a:solidFill>
              </a:rPr>
              <a:t>Repo- and issue-aware</a:t>
            </a:r>
            <a:endParaRPr lang="en-US" sz="1800" dirty="0"/>
          </a:p>
        </p:txBody>
      </p:sp>
      <p:sp>
        <p:nvSpPr>
          <p:cNvPr id="8" name="Text 5"/>
          <p:cNvSpPr txBox="1"/>
          <p:nvPr/>
        </p:nvSpPr>
        <p:spPr>
          <a:xfrm>
            <a:off x="822960" y="4434840"/>
            <a:ext cx="2148840" cy="1417320"/>
          </a:xfrm>
          <a:prstGeom prst="rect">
            <a:avLst/>
          </a:prstGeom>
          <a:noFill/>
          <a:ln/>
        </p:spPr>
        <p:txBody>
          <a:bodyPr wrap="square" lIns="0" tIns="0" rIns="0" bIns="0" rtlCol="0" anchor="t"/>
          <a:lstStyle/>
          <a:p>
            <a:pPr indent="0" marL="0">
              <a:buNone/>
            </a:pPr>
            <a:r>
              <a:rPr lang="en-US" sz="1400" dirty="0">
                <a:solidFill>
                  <a:srgbClr val="525252"/>
                </a:solidFill>
              </a:rPr>
              <a:t>Reads the issue and the existing code, so the plan fits Harborline's codebase, not a tutorial</a:t>
            </a:r>
            <a:endParaRPr lang="en-US" sz="1400" dirty="0"/>
          </a:p>
        </p:txBody>
      </p:sp>
      <p:sp>
        <p:nvSpPr>
          <p:cNvPr id="9" name="pillar 2"/>
          <p:cNvSpPr/>
          <p:nvPr/>
        </p:nvSpPr>
        <p:spPr>
          <a:xfrm>
            <a:off x="3383280" y="2423160"/>
            <a:ext cx="2606040" cy="3566160"/>
          </a:xfrm>
          <a:prstGeom prst="roundRect">
            <a:avLst>
              <a:gd name="adj" fmla="val 5263"/>
            </a:avLst>
          </a:prstGeom>
          <a:solidFill>
            <a:schemeClr val="bg2"/>
          </a:solidFill>
          <a:ln/>
        </p:spPr>
      </p:sp>
      <p:sp>
        <p:nvSpPr>
          <p:cNvPr id="10" name="pillar 2 circle"/>
          <p:cNvSpPr/>
          <p:nvPr/>
        </p:nvSpPr>
        <p:spPr>
          <a:xfrm>
            <a:off x="3657600" y="2697480"/>
            <a:ext cx="777240" cy="777240"/>
          </a:xfrm>
          <a:prstGeom prst="ellipse">
            <a:avLst/>
          </a:prstGeom>
          <a:solidFill>
            <a:srgbClr val="8A3FFC"/>
          </a:solidFill>
          <a:ln/>
        </p:spPr>
      </p:sp>
      <p:pic>
        <p:nvPicPr>
          <p:cNvPr id="11" name="pillar 2 icon" descr="preencoded.png">    </p:cNvPr>
          <p:cNvPicPr>
            <a:picLocks noChangeAspect="1"/>
          </p:cNvPicPr>
          <p:nvPr/>
        </p:nvPicPr>
        <p:blipFill>
          <a:blip r:embed="rId2"/>
          <a:stretch>
            <a:fillRect/>
          </a:stretch>
        </p:blipFill>
        <p:spPr>
          <a:xfrm>
            <a:off x="3851910" y="2891790"/>
            <a:ext cx="388620" cy="388620"/>
          </a:xfrm>
          <a:prstGeom prst="rect">
            <a:avLst/>
          </a:prstGeom>
        </p:spPr>
      </p:pic>
      <p:sp>
        <p:nvSpPr>
          <p:cNvPr id="12" name="Text 8"/>
          <p:cNvSpPr txBox="1"/>
          <p:nvPr/>
        </p:nvSpPr>
        <p:spPr>
          <a:xfrm>
            <a:off x="3657600" y="3657600"/>
            <a:ext cx="2148840" cy="777240"/>
          </a:xfrm>
          <a:prstGeom prst="rect">
            <a:avLst/>
          </a:prstGeom>
          <a:noFill/>
          <a:ln/>
        </p:spPr>
        <p:txBody>
          <a:bodyPr wrap="square" lIns="0" tIns="0" rIns="0" bIns="0" rtlCol="0" anchor="t"/>
          <a:lstStyle/>
          <a:p>
            <a:pPr indent="0" marL="0">
              <a:buNone/>
            </a:pPr>
            <a:r>
              <a:rPr lang="en-US" sz="1800" b="1" dirty="0">
                <a:solidFill>
                  <a:schemeClr val="tx1"/>
                </a:solidFill>
              </a:rPr>
              <a:t>Plan first, approve each step</a:t>
            </a:r>
            <a:endParaRPr lang="en-US" sz="1800" dirty="0"/>
          </a:p>
        </p:txBody>
      </p:sp>
      <p:sp>
        <p:nvSpPr>
          <p:cNvPr id="13" name="Text 9"/>
          <p:cNvSpPr txBox="1"/>
          <p:nvPr/>
        </p:nvSpPr>
        <p:spPr>
          <a:xfrm>
            <a:off x="3657600" y="4434840"/>
            <a:ext cx="2148840" cy="1417320"/>
          </a:xfrm>
          <a:prstGeom prst="rect">
            <a:avLst/>
          </a:prstGeom>
          <a:noFill/>
          <a:ln/>
        </p:spPr>
        <p:txBody>
          <a:bodyPr wrap="square" lIns="0" tIns="0" rIns="0" bIns="0" rtlCol="0" anchor="t"/>
          <a:lstStyle/>
          <a:p>
            <a:pPr indent="0" marL="0">
              <a:buNone/>
            </a:pPr>
            <a:r>
              <a:rPr lang="en-US" sz="1400" dirty="0">
                <a:solidFill>
                  <a:srgbClr val="525252"/>
                </a:solidFill>
              </a:rPr>
              <a:t>Scope-bounded sub-tasks with an approval gate before any file changes</a:t>
            </a:r>
            <a:endParaRPr lang="en-US" sz="1400" dirty="0"/>
          </a:p>
        </p:txBody>
      </p:sp>
      <p:sp>
        <p:nvSpPr>
          <p:cNvPr id="14" name="pillar 3"/>
          <p:cNvSpPr/>
          <p:nvPr/>
        </p:nvSpPr>
        <p:spPr>
          <a:xfrm>
            <a:off x="6217920" y="2423160"/>
            <a:ext cx="2606040" cy="3566160"/>
          </a:xfrm>
          <a:prstGeom prst="roundRect">
            <a:avLst>
              <a:gd name="adj" fmla="val 5263"/>
            </a:avLst>
          </a:prstGeom>
          <a:solidFill>
            <a:schemeClr val="bg2"/>
          </a:solidFill>
          <a:ln/>
        </p:spPr>
      </p:sp>
      <p:sp>
        <p:nvSpPr>
          <p:cNvPr id="15" name="pillar 3 circle"/>
          <p:cNvSpPr/>
          <p:nvPr/>
        </p:nvSpPr>
        <p:spPr>
          <a:xfrm>
            <a:off x="6492240" y="2697480"/>
            <a:ext cx="777240" cy="777240"/>
          </a:xfrm>
          <a:prstGeom prst="ellipse">
            <a:avLst/>
          </a:prstGeom>
          <a:solidFill>
            <a:srgbClr val="08BDBA"/>
          </a:solidFill>
          <a:ln/>
        </p:spPr>
      </p:sp>
      <p:pic>
        <p:nvPicPr>
          <p:cNvPr id="16" name="pillar 3 icon" descr="preencoded.png">    </p:cNvPr>
          <p:cNvPicPr>
            <a:picLocks noChangeAspect="1"/>
          </p:cNvPicPr>
          <p:nvPr/>
        </p:nvPicPr>
        <p:blipFill>
          <a:blip r:embed="rId3"/>
          <a:stretch>
            <a:fillRect/>
          </a:stretch>
        </p:blipFill>
        <p:spPr>
          <a:xfrm>
            <a:off x="6686550" y="2891790"/>
            <a:ext cx="388620" cy="388620"/>
          </a:xfrm>
          <a:prstGeom prst="rect">
            <a:avLst/>
          </a:prstGeom>
        </p:spPr>
      </p:pic>
      <p:sp>
        <p:nvSpPr>
          <p:cNvPr id="17" name="Text 12"/>
          <p:cNvSpPr txBox="1"/>
          <p:nvPr/>
        </p:nvSpPr>
        <p:spPr>
          <a:xfrm>
            <a:off x="6492240" y="3657600"/>
            <a:ext cx="2148840" cy="777240"/>
          </a:xfrm>
          <a:prstGeom prst="rect">
            <a:avLst/>
          </a:prstGeom>
          <a:noFill/>
          <a:ln/>
        </p:spPr>
        <p:txBody>
          <a:bodyPr wrap="square" lIns="0" tIns="0" rIns="0" bIns="0" rtlCol="0" anchor="t"/>
          <a:lstStyle/>
          <a:p>
            <a:pPr indent="0" marL="0">
              <a:buNone/>
            </a:pPr>
            <a:r>
              <a:rPr lang="en-US" sz="1800" b="1" dirty="0">
                <a:solidFill>
                  <a:schemeClr val="tx1"/>
                </a:solidFill>
              </a:rPr>
              <a:t>Validates like CI</a:t>
            </a:r>
            <a:endParaRPr lang="en-US" sz="1800" dirty="0"/>
          </a:p>
        </p:txBody>
      </p:sp>
      <p:sp>
        <p:nvSpPr>
          <p:cNvPr id="18" name="Text 13"/>
          <p:cNvSpPr txBox="1"/>
          <p:nvPr/>
        </p:nvSpPr>
        <p:spPr>
          <a:xfrm>
            <a:off x="6492240" y="4434840"/>
            <a:ext cx="2148840" cy="1417320"/>
          </a:xfrm>
          <a:prstGeom prst="rect">
            <a:avLst/>
          </a:prstGeom>
          <a:noFill/>
          <a:ln/>
        </p:spPr>
        <p:txBody>
          <a:bodyPr wrap="square" lIns="0" tIns="0" rIns="0" bIns="0" rtlCol="0" anchor="t"/>
          <a:lstStyle/>
          <a:p>
            <a:pPr indent="0" marL="0">
              <a:buNone/>
            </a:pPr>
            <a:r>
              <a:rPr lang="en-US" sz="1400" dirty="0">
                <a:solidFill>
                  <a:srgbClr val="525252"/>
                </a:solidFill>
              </a:rPr>
              <a:t>Runs lint, tests, and build locally: the same gates GitHub Actions enforces</a:t>
            </a:r>
            <a:endParaRPr lang="en-US" sz="1400" dirty="0"/>
          </a:p>
        </p:txBody>
      </p:sp>
      <p:sp>
        <p:nvSpPr>
          <p:cNvPr id="19" name="pillar 4"/>
          <p:cNvSpPr/>
          <p:nvPr/>
        </p:nvSpPr>
        <p:spPr>
          <a:xfrm>
            <a:off x="9052560" y="2423160"/>
            <a:ext cx="2606040" cy="3566160"/>
          </a:xfrm>
          <a:prstGeom prst="roundRect">
            <a:avLst>
              <a:gd name="adj" fmla="val 5263"/>
            </a:avLst>
          </a:prstGeom>
          <a:solidFill>
            <a:schemeClr val="bg2"/>
          </a:solidFill>
          <a:ln/>
        </p:spPr>
      </p:sp>
      <p:sp>
        <p:nvSpPr>
          <p:cNvPr id="20" name="pillar 4 circle"/>
          <p:cNvSpPr/>
          <p:nvPr/>
        </p:nvSpPr>
        <p:spPr>
          <a:xfrm>
            <a:off x="9326880" y="2697480"/>
            <a:ext cx="777240" cy="777240"/>
          </a:xfrm>
          <a:prstGeom prst="ellipse">
            <a:avLst/>
          </a:prstGeom>
          <a:solidFill>
            <a:srgbClr val="24A148"/>
          </a:solidFill>
          <a:ln/>
        </p:spPr>
      </p:sp>
      <p:pic>
        <p:nvPicPr>
          <p:cNvPr id="21" name="pillar 4 icon" descr="preencoded.png">    </p:cNvPr>
          <p:cNvPicPr>
            <a:picLocks noChangeAspect="1"/>
          </p:cNvPicPr>
          <p:nvPr/>
        </p:nvPicPr>
        <p:blipFill>
          <a:blip r:embed="rId4"/>
          <a:stretch>
            <a:fillRect/>
          </a:stretch>
        </p:blipFill>
        <p:spPr>
          <a:xfrm>
            <a:off x="9521190" y="2891790"/>
            <a:ext cx="388620" cy="388620"/>
          </a:xfrm>
          <a:prstGeom prst="rect">
            <a:avLst/>
          </a:prstGeom>
        </p:spPr>
      </p:pic>
      <p:sp>
        <p:nvSpPr>
          <p:cNvPr id="22" name="Text 16"/>
          <p:cNvSpPr txBox="1"/>
          <p:nvPr/>
        </p:nvSpPr>
        <p:spPr>
          <a:xfrm>
            <a:off x="9326880" y="3657600"/>
            <a:ext cx="2148840" cy="777240"/>
          </a:xfrm>
          <a:prstGeom prst="rect">
            <a:avLst/>
          </a:prstGeom>
          <a:noFill/>
          <a:ln/>
        </p:spPr>
        <p:txBody>
          <a:bodyPr wrap="square" lIns="0" tIns="0" rIns="0" bIns="0" rtlCol="0" anchor="t"/>
          <a:lstStyle/>
          <a:p>
            <a:pPr indent="0" marL="0">
              <a:buNone/>
            </a:pPr>
            <a:r>
              <a:rPr lang="en-US" sz="1800" b="1" dirty="0">
                <a:solidFill>
                  <a:schemeClr val="tx1"/>
                </a:solidFill>
              </a:rPr>
              <a:t>Prepares the delivery</a:t>
            </a:r>
            <a:endParaRPr lang="en-US" sz="1800" dirty="0"/>
          </a:p>
        </p:txBody>
      </p:sp>
      <p:sp>
        <p:nvSpPr>
          <p:cNvPr id="23" name="Text 17"/>
          <p:cNvSpPr txBox="1"/>
          <p:nvPr/>
        </p:nvSpPr>
        <p:spPr>
          <a:xfrm>
            <a:off x="9326880" y="4434840"/>
            <a:ext cx="2148840" cy="1417320"/>
          </a:xfrm>
          <a:prstGeom prst="rect">
            <a:avLst/>
          </a:prstGeom>
          <a:noFill/>
          <a:ln/>
        </p:spPr>
        <p:txBody>
          <a:bodyPr wrap="square" lIns="0" tIns="0" rIns="0" bIns="0" rtlCol="0" anchor="t"/>
          <a:lstStyle/>
          <a:p>
            <a:pPr indent="0" marL="0">
              <a:buNone/>
            </a:pPr>
            <a:r>
              <a:rPr lang="en-US" sz="1400" dirty="0">
                <a:solidFill>
                  <a:srgbClr val="525252"/>
                </a:solidFill>
              </a:rPr>
              <a:t>Conventional commit message and a reviewer-ready PR description</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F6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Where Bob fits at Harborline</a:t>
            </a:r>
            <a:endParaRPr lang="en-US" sz="3600" dirty="0"/>
          </a:p>
        </p:txBody>
      </p:sp>
      <p:sp>
        <p:nvSpPr>
          <p:cNvPr id="3" name="use case 1"/>
          <p:cNvSpPr/>
          <p:nvPr/>
        </p:nvSpPr>
        <p:spPr>
          <a:xfrm>
            <a:off x="548640" y="1463040"/>
            <a:ext cx="3474720" cy="2103120"/>
          </a:xfrm>
          <a:prstGeom prst="roundRect">
            <a:avLst>
              <a:gd name="adj" fmla="val 6522"/>
            </a:avLst>
          </a:prstGeom>
          <a:solidFill>
            <a:srgbClr val="FFFFFF"/>
          </a:solidFill>
          <a:ln w="12700">
            <a:solidFill>
              <a:srgbClr val="E0E0E0"/>
            </a:solidFill>
            <a:prstDash val="solid"/>
          </a:ln>
          <a:effectLst>
            <a:outerShdw sx="100000" sy="100000" kx="0" ky="0" algn="bl" rotWithShape="0" blurRad="101600" dist="25400" dir="5400000">
              <a:srgbClr val="000000">
                <a:alpha val="12000"/>
              </a:srgbClr>
            </a:outerShdw>
          </a:effectLst>
        </p:spPr>
      </p:sp>
      <p:sp>
        <p:nvSpPr>
          <p:cNvPr id="4" name="use case 1 circle"/>
          <p:cNvSpPr/>
          <p:nvPr/>
        </p:nvSpPr>
        <p:spPr>
          <a:xfrm>
            <a:off x="822960" y="1737360"/>
            <a:ext cx="640080" cy="640080"/>
          </a:xfrm>
          <a:prstGeom prst="ellipse">
            <a:avLst/>
          </a:prstGeom>
          <a:solidFill>
            <a:srgbClr val="0F62FE"/>
          </a:solidFill>
          <a:ln/>
        </p:spPr>
      </p:sp>
      <p:pic>
        <p:nvPicPr>
          <p:cNvPr id="5" name="use case 1 icon" descr="preencoded.png">    </p:cNvPr>
          <p:cNvPicPr>
            <a:picLocks noChangeAspect="1"/>
          </p:cNvPicPr>
          <p:nvPr/>
        </p:nvPicPr>
        <p:blipFill>
          <a:blip r:embed="rId1"/>
          <a:stretch>
            <a:fillRect/>
          </a:stretch>
        </p:blipFill>
        <p:spPr>
          <a:xfrm>
            <a:off x="982980" y="1897380"/>
            <a:ext cx="320040" cy="320040"/>
          </a:xfrm>
          <a:prstGeom prst="rect">
            <a:avLst/>
          </a:prstGeom>
        </p:spPr>
      </p:pic>
      <p:sp>
        <p:nvSpPr>
          <p:cNvPr id="6" name="Text 3"/>
          <p:cNvSpPr txBox="1"/>
          <p:nvPr/>
        </p:nvSpPr>
        <p:spPr>
          <a:xfrm>
            <a:off x="3200400" y="1737360"/>
            <a:ext cx="548640" cy="457200"/>
          </a:xfrm>
          <a:prstGeom prst="rect">
            <a:avLst/>
          </a:prstGeom>
          <a:noFill/>
          <a:ln/>
        </p:spPr>
        <p:txBody>
          <a:bodyPr wrap="square" lIns="0" tIns="0" rIns="0" bIns="0" rtlCol="0" anchor="ctr"/>
          <a:lstStyle/>
          <a:p>
            <a:pPr algn="r" indent="0" marL="0">
              <a:buNone/>
            </a:pPr>
            <a:r>
              <a:rPr lang="en-US" sz="1800" b="1" dirty="0">
                <a:solidFill>
                  <a:srgbClr val="A8A8A8"/>
                </a:solidFill>
              </a:rPr>
              <a:t>01</a:t>
            </a:r>
            <a:endParaRPr lang="en-US" sz="1800" dirty="0"/>
          </a:p>
        </p:txBody>
      </p:sp>
      <p:sp>
        <p:nvSpPr>
          <p:cNvPr id="7" name="Text 4"/>
          <p:cNvSpPr txBox="1"/>
          <p:nvPr/>
        </p:nvSpPr>
        <p:spPr>
          <a:xfrm>
            <a:off x="822960" y="246888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Plan &amp; scaffold services</a:t>
            </a:r>
            <a:endParaRPr lang="en-US" sz="1800" dirty="0"/>
          </a:p>
        </p:txBody>
      </p:sp>
      <p:sp>
        <p:nvSpPr>
          <p:cNvPr id="8" name="Text 5"/>
          <p:cNvSpPr txBox="1"/>
          <p:nvPr/>
        </p:nvSpPr>
        <p:spPr>
          <a:xfrm>
            <a:off x="822960" y="2880360"/>
            <a:ext cx="3017520" cy="594360"/>
          </a:xfrm>
          <a:prstGeom prst="rect">
            <a:avLst/>
          </a:prstGeom>
          <a:noFill/>
          <a:ln/>
        </p:spPr>
        <p:txBody>
          <a:bodyPr wrap="square" lIns="0" tIns="0" rIns="0" bIns="0" rtlCol="0" anchor="t"/>
          <a:lstStyle/>
          <a:p>
            <a:pPr indent="0" marL="0">
              <a:buNone/>
            </a:pPr>
            <a:r>
              <a:rPr lang="en-US" sz="1400" dirty="0">
                <a:solidFill>
                  <a:srgbClr val="525252"/>
                </a:solidFill>
              </a:rPr>
              <a:t>Empty repo → architecture plan → approved, scaffolded app</a:t>
            </a:r>
            <a:endParaRPr lang="en-US" sz="1400" dirty="0"/>
          </a:p>
        </p:txBody>
      </p:sp>
      <p:sp>
        <p:nvSpPr>
          <p:cNvPr id="9" name="use case 2"/>
          <p:cNvSpPr/>
          <p:nvPr/>
        </p:nvSpPr>
        <p:spPr>
          <a:xfrm>
            <a:off x="4297680" y="1463040"/>
            <a:ext cx="3474720" cy="2103120"/>
          </a:xfrm>
          <a:prstGeom prst="roundRect">
            <a:avLst>
              <a:gd name="adj" fmla="val 6522"/>
            </a:avLst>
          </a:prstGeom>
          <a:solidFill>
            <a:srgbClr val="FFFFFF"/>
          </a:solidFill>
          <a:ln w="12700">
            <a:solidFill>
              <a:srgbClr val="E0E0E0"/>
            </a:solidFill>
            <a:prstDash val="solid"/>
          </a:ln>
          <a:effectLst>
            <a:outerShdw sx="100000" sy="100000" kx="0" ky="0" algn="bl" rotWithShape="0" blurRad="101600" dist="25400" dir="5400000">
              <a:srgbClr val="000000">
                <a:alpha val="12000"/>
              </a:srgbClr>
            </a:outerShdw>
          </a:effectLst>
        </p:spPr>
      </p:sp>
      <p:sp>
        <p:nvSpPr>
          <p:cNvPr id="10" name="use case 2 circle"/>
          <p:cNvSpPr/>
          <p:nvPr/>
        </p:nvSpPr>
        <p:spPr>
          <a:xfrm>
            <a:off x="4572000" y="1737360"/>
            <a:ext cx="640080" cy="640080"/>
          </a:xfrm>
          <a:prstGeom prst="ellipse">
            <a:avLst/>
          </a:prstGeom>
          <a:solidFill>
            <a:srgbClr val="0F62FE"/>
          </a:solidFill>
          <a:ln/>
        </p:spPr>
      </p:sp>
      <p:pic>
        <p:nvPicPr>
          <p:cNvPr id="11" name="use case 2 icon" descr="preencoded.png">    </p:cNvPr>
          <p:cNvPicPr>
            <a:picLocks noChangeAspect="1"/>
          </p:cNvPicPr>
          <p:nvPr/>
        </p:nvPicPr>
        <p:blipFill>
          <a:blip r:embed="rId2"/>
          <a:stretch>
            <a:fillRect/>
          </a:stretch>
        </p:blipFill>
        <p:spPr>
          <a:xfrm>
            <a:off x="4732020" y="1897380"/>
            <a:ext cx="320040" cy="320040"/>
          </a:xfrm>
          <a:prstGeom prst="rect">
            <a:avLst/>
          </a:prstGeom>
        </p:spPr>
      </p:pic>
      <p:sp>
        <p:nvSpPr>
          <p:cNvPr id="12" name="Text 8"/>
          <p:cNvSpPr txBox="1"/>
          <p:nvPr/>
        </p:nvSpPr>
        <p:spPr>
          <a:xfrm>
            <a:off x="6949440" y="1737360"/>
            <a:ext cx="548640" cy="457200"/>
          </a:xfrm>
          <a:prstGeom prst="rect">
            <a:avLst/>
          </a:prstGeom>
          <a:noFill/>
          <a:ln/>
        </p:spPr>
        <p:txBody>
          <a:bodyPr wrap="square" lIns="0" tIns="0" rIns="0" bIns="0" rtlCol="0" anchor="ctr"/>
          <a:lstStyle/>
          <a:p>
            <a:pPr algn="r" indent="0" marL="0">
              <a:buNone/>
            </a:pPr>
            <a:r>
              <a:rPr lang="en-US" sz="1800" b="1" dirty="0">
                <a:solidFill>
                  <a:srgbClr val="A8A8A8"/>
                </a:solidFill>
              </a:rPr>
              <a:t>02</a:t>
            </a:r>
            <a:endParaRPr lang="en-US" sz="1800" dirty="0"/>
          </a:p>
        </p:txBody>
      </p:sp>
      <p:sp>
        <p:nvSpPr>
          <p:cNvPr id="13" name="Text 9"/>
          <p:cNvSpPr txBox="1"/>
          <p:nvPr/>
        </p:nvSpPr>
        <p:spPr>
          <a:xfrm>
            <a:off x="4572000" y="246888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Issue-driven features</a:t>
            </a:r>
            <a:endParaRPr lang="en-US" sz="1800" dirty="0"/>
          </a:p>
        </p:txBody>
      </p:sp>
      <p:sp>
        <p:nvSpPr>
          <p:cNvPr id="14" name="Text 10"/>
          <p:cNvSpPr txBox="1"/>
          <p:nvPr/>
        </p:nvSpPr>
        <p:spPr>
          <a:xfrm>
            <a:off x="4572000" y="2880360"/>
            <a:ext cx="3017520" cy="594360"/>
          </a:xfrm>
          <a:prstGeom prst="rect">
            <a:avLst/>
          </a:prstGeom>
          <a:noFill/>
          <a:ln/>
        </p:spPr>
        <p:txBody>
          <a:bodyPr wrap="square" lIns="0" tIns="0" rIns="0" bIns="0" rtlCol="0" anchor="t"/>
          <a:lstStyle/>
          <a:p>
            <a:pPr indent="0" marL="0">
              <a:buNone/>
            </a:pPr>
            <a:r>
              <a:rPr lang="en-US" sz="1400" dirty="0">
                <a:solidFill>
                  <a:srgbClr val="525252"/>
                </a:solidFill>
              </a:rPr>
              <a:t>Bob reads the GitHub issue and implements it sub-task by sub-task</a:t>
            </a:r>
            <a:endParaRPr lang="en-US" sz="1400" dirty="0"/>
          </a:p>
        </p:txBody>
      </p:sp>
      <p:sp>
        <p:nvSpPr>
          <p:cNvPr id="15" name="use case 3"/>
          <p:cNvSpPr/>
          <p:nvPr/>
        </p:nvSpPr>
        <p:spPr>
          <a:xfrm>
            <a:off x="8046720" y="1463040"/>
            <a:ext cx="3474720" cy="2103120"/>
          </a:xfrm>
          <a:prstGeom prst="roundRect">
            <a:avLst>
              <a:gd name="adj" fmla="val 6522"/>
            </a:avLst>
          </a:prstGeom>
          <a:solidFill>
            <a:srgbClr val="FFFFFF"/>
          </a:solidFill>
          <a:ln w="12700">
            <a:solidFill>
              <a:srgbClr val="E0E0E0"/>
            </a:solidFill>
            <a:prstDash val="solid"/>
          </a:ln>
          <a:effectLst>
            <a:outerShdw sx="100000" sy="100000" kx="0" ky="0" algn="bl" rotWithShape="0" blurRad="101600" dist="25400" dir="5400000">
              <a:srgbClr val="000000">
                <a:alpha val="12000"/>
              </a:srgbClr>
            </a:outerShdw>
          </a:effectLst>
        </p:spPr>
      </p:sp>
      <p:sp>
        <p:nvSpPr>
          <p:cNvPr id="16" name="use case 3 circle"/>
          <p:cNvSpPr/>
          <p:nvPr/>
        </p:nvSpPr>
        <p:spPr>
          <a:xfrm>
            <a:off x="8321040" y="1737360"/>
            <a:ext cx="640080" cy="640080"/>
          </a:xfrm>
          <a:prstGeom prst="ellipse">
            <a:avLst/>
          </a:prstGeom>
          <a:solidFill>
            <a:srgbClr val="0F62FE"/>
          </a:solidFill>
          <a:ln/>
        </p:spPr>
      </p:sp>
      <p:pic>
        <p:nvPicPr>
          <p:cNvPr id="17" name="use case 3 icon" descr="preencoded.png">    </p:cNvPr>
          <p:cNvPicPr>
            <a:picLocks noChangeAspect="1"/>
          </p:cNvPicPr>
          <p:nvPr/>
        </p:nvPicPr>
        <p:blipFill>
          <a:blip r:embed="rId3"/>
          <a:stretch>
            <a:fillRect/>
          </a:stretch>
        </p:blipFill>
        <p:spPr>
          <a:xfrm>
            <a:off x="8481060" y="1897380"/>
            <a:ext cx="320040" cy="320040"/>
          </a:xfrm>
          <a:prstGeom prst="rect">
            <a:avLst/>
          </a:prstGeom>
        </p:spPr>
      </p:pic>
      <p:sp>
        <p:nvSpPr>
          <p:cNvPr id="18" name="Text 13"/>
          <p:cNvSpPr txBox="1"/>
          <p:nvPr/>
        </p:nvSpPr>
        <p:spPr>
          <a:xfrm>
            <a:off x="10698480" y="1737360"/>
            <a:ext cx="548640" cy="457200"/>
          </a:xfrm>
          <a:prstGeom prst="rect">
            <a:avLst/>
          </a:prstGeom>
          <a:noFill/>
          <a:ln/>
        </p:spPr>
        <p:txBody>
          <a:bodyPr wrap="square" lIns="0" tIns="0" rIns="0" bIns="0" rtlCol="0" anchor="ctr"/>
          <a:lstStyle/>
          <a:p>
            <a:pPr algn="r" indent="0" marL="0">
              <a:buNone/>
            </a:pPr>
            <a:r>
              <a:rPr lang="en-US" sz="1800" b="1" dirty="0">
                <a:solidFill>
                  <a:srgbClr val="A8A8A8"/>
                </a:solidFill>
              </a:rPr>
              <a:t>03</a:t>
            </a:r>
            <a:endParaRPr lang="en-US" sz="1800" dirty="0"/>
          </a:p>
        </p:txBody>
      </p:sp>
      <p:sp>
        <p:nvSpPr>
          <p:cNvPr id="19" name="Text 14"/>
          <p:cNvSpPr txBox="1"/>
          <p:nvPr/>
        </p:nvSpPr>
        <p:spPr>
          <a:xfrm>
            <a:off x="8321040" y="246888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Tests written with the code</a:t>
            </a:r>
            <a:endParaRPr lang="en-US" sz="1800" dirty="0"/>
          </a:p>
        </p:txBody>
      </p:sp>
      <p:sp>
        <p:nvSpPr>
          <p:cNvPr id="20" name="Text 15"/>
          <p:cNvSpPr txBox="1"/>
          <p:nvPr/>
        </p:nvSpPr>
        <p:spPr>
          <a:xfrm>
            <a:off x="8321040" y="2880360"/>
            <a:ext cx="3017520" cy="594360"/>
          </a:xfrm>
          <a:prstGeom prst="rect">
            <a:avLst/>
          </a:prstGeom>
          <a:noFill/>
          <a:ln/>
        </p:spPr>
        <p:txBody>
          <a:bodyPr wrap="square" lIns="0" tIns="0" rIns="0" bIns="0" rtlCol="0" anchor="t"/>
          <a:lstStyle/>
          <a:p>
            <a:pPr indent="0" marL="0">
              <a:buNone/>
            </a:pPr>
            <a:r>
              <a:rPr lang="en-US" sz="1400" dirty="0">
                <a:solidFill>
                  <a:srgbClr val="525252"/>
                </a:solidFill>
              </a:rPr>
              <a:t>New behavior ships with its own tests, not as cleanup later</a:t>
            </a:r>
            <a:endParaRPr lang="en-US" sz="1400" dirty="0"/>
          </a:p>
        </p:txBody>
      </p:sp>
      <p:sp>
        <p:nvSpPr>
          <p:cNvPr id="21" name="use case 4"/>
          <p:cNvSpPr/>
          <p:nvPr/>
        </p:nvSpPr>
        <p:spPr>
          <a:xfrm>
            <a:off x="548640" y="3794760"/>
            <a:ext cx="3474720" cy="2103120"/>
          </a:xfrm>
          <a:prstGeom prst="roundRect">
            <a:avLst>
              <a:gd name="adj" fmla="val 6522"/>
            </a:avLst>
          </a:prstGeom>
          <a:solidFill>
            <a:srgbClr val="FFFFFF"/>
          </a:solidFill>
          <a:ln w="12700">
            <a:solidFill>
              <a:srgbClr val="E0E0E0"/>
            </a:solidFill>
            <a:prstDash val="solid"/>
          </a:ln>
          <a:effectLst>
            <a:outerShdw sx="100000" sy="100000" kx="0" ky="0" algn="bl" rotWithShape="0" blurRad="101600" dist="25400" dir="5400000">
              <a:srgbClr val="000000">
                <a:alpha val="12000"/>
              </a:srgbClr>
            </a:outerShdw>
          </a:effectLst>
        </p:spPr>
      </p:sp>
      <p:sp>
        <p:nvSpPr>
          <p:cNvPr id="22" name="use case 4 circle"/>
          <p:cNvSpPr/>
          <p:nvPr/>
        </p:nvSpPr>
        <p:spPr>
          <a:xfrm>
            <a:off x="822960" y="4069080"/>
            <a:ext cx="640080" cy="640080"/>
          </a:xfrm>
          <a:prstGeom prst="ellipse">
            <a:avLst/>
          </a:prstGeom>
          <a:solidFill>
            <a:srgbClr val="0F62FE"/>
          </a:solidFill>
          <a:ln/>
        </p:spPr>
      </p:sp>
      <p:pic>
        <p:nvPicPr>
          <p:cNvPr id="23" name="use case 4 icon" descr="preencoded.png">    </p:cNvPr>
          <p:cNvPicPr>
            <a:picLocks noChangeAspect="1"/>
          </p:cNvPicPr>
          <p:nvPr/>
        </p:nvPicPr>
        <p:blipFill>
          <a:blip r:embed="rId4"/>
          <a:stretch>
            <a:fillRect/>
          </a:stretch>
        </p:blipFill>
        <p:spPr>
          <a:xfrm>
            <a:off x="982980" y="4229100"/>
            <a:ext cx="320040" cy="320040"/>
          </a:xfrm>
          <a:prstGeom prst="rect">
            <a:avLst/>
          </a:prstGeom>
        </p:spPr>
      </p:pic>
      <p:sp>
        <p:nvSpPr>
          <p:cNvPr id="24" name="Text 18"/>
          <p:cNvSpPr txBox="1"/>
          <p:nvPr/>
        </p:nvSpPr>
        <p:spPr>
          <a:xfrm>
            <a:off x="3200400" y="4069080"/>
            <a:ext cx="548640" cy="457200"/>
          </a:xfrm>
          <a:prstGeom prst="rect">
            <a:avLst/>
          </a:prstGeom>
          <a:noFill/>
          <a:ln/>
        </p:spPr>
        <p:txBody>
          <a:bodyPr wrap="square" lIns="0" tIns="0" rIns="0" bIns="0" rtlCol="0" anchor="ctr"/>
          <a:lstStyle/>
          <a:p>
            <a:pPr algn="r" indent="0" marL="0">
              <a:buNone/>
            </a:pPr>
            <a:r>
              <a:rPr lang="en-US" sz="1800" b="1" dirty="0">
                <a:solidFill>
                  <a:srgbClr val="A8A8A8"/>
                </a:solidFill>
              </a:rPr>
              <a:t>04</a:t>
            </a:r>
            <a:endParaRPr lang="en-US" sz="1800" dirty="0"/>
          </a:p>
        </p:txBody>
      </p:sp>
      <p:sp>
        <p:nvSpPr>
          <p:cNvPr id="25" name="Text 19"/>
          <p:cNvSpPr txBox="1"/>
          <p:nvPr/>
        </p:nvSpPr>
        <p:spPr>
          <a:xfrm>
            <a:off x="822960" y="480060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Local validation = CI parity</a:t>
            </a:r>
            <a:endParaRPr lang="en-US" sz="1800" dirty="0"/>
          </a:p>
        </p:txBody>
      </p:sp>
      <p:sp>
        <p:nvSpPr>
          <p:cNvPr id="26" name="Text 20"/>
          <p:cNvSpPr txBox="1"/>
          <p:nvPr/>
        </p:nvSpPr>
        <p:spPr>
          <a:xfrm>
            <a:off x="822960" y="5212080"/>
            <a:ext cx="3017520" cy="594360"/>
          </a:xfrm>
          <a:prstGeom prst="rect">
            <a:avLst/>
          </a:prstGeom>
          <a:noFill/>
          <a:ln/>
        </p:spPr>
        <p:txBody>
          <a:bodyPr wrap="square" lIns="0" tIns="0" rIns="0" bIns="0" rtlCol="0" anchor="t"/>
          <a:lstStyle/>
          <a:p>
            <a:pPr indent="0" marL="0">
              <a:buNone/>
            </a:pPr>
            <a:r>
              <a:rPr lang="en-US" sz="1400" dirty="0">
                <a:solidFill>
                  <a:srgbClr val="525252"/>
                </a:solidFill>
              </a:rPr>
              <a:t>Lint, test, build before push, so CI goes green the first time</a:t>
            </a:r>
            <a:endParaRPr lang="en-US" sz="1400" dirty="0"/>
          </a:p>
        </p:txBody>
      </p:sp>
      <p:sp>
        <p:nvSpPr>
          <p:cNvPr id="27" name="use case 5"/>
          <p:cNvSpPr/>
          <p:nvPr/>
        </p:nvSpPr>
        <p:spPr>
          <a:xfrm>
            <a:off x="4297680" y="3794760"/>
            <a:ext cx="3474720" cy="2103120"/>
          </a:xfrm>
          <a:prstGeom prst="roundRect">
            <a:avLst>
              <a:gd name="adj" fmla="val 6522"/>
            </a:avLst>
          </a:prstGeom>
          <a:solidFill>
            <a:srgbClr val="FFFFFF"/>
          </a:solidFill>
          <a:ln w="12700">
            <a:solidFill>
              <a:srgbClr val="E0E0E0"/>
            </a:solidFill>
            <a:prstDash val="solid"/>
          </a:ln>
          <a:effectLst>
            <a:outerShdw sx="100000" sy="100000" kx="0" ky="0" algn="bl" rotWithShape="0" blurRad="101600" dist="25400" dir="5400000">
              <a:srgbClr val="000000">
                <a:alpha val="12000"/>
              </a:srgbClr>
            </a:outerShdw>
          </a:effectLst>
        </p:spPr>
      </p:sp>
      <p:sp>
        <p:nvSpPr>
          <p:cNvPr id="28" name="use case 5 circle"/>
          <p:cNvSpPr/>
          <p:nvPr/>
        </p:nvSpPr>
        <p:spPr>
          <a:xfrm>
            <a:off x="4572000" y="4069080"/>
            <a:ext cx="640080" cy="640080"/>
          </a:xfrm>
          <a:prstGeom prst="ellipse">
            <a:avLst/>
          </a:prstGeom>
          <a:solidFill>
            <a:srgbClr val="0F62FE"/>
          </a:solidFill>
          <a:ln/>
        </p:spPr>
      </p:sp>
      <p:pic>
        <p:nvPicPr>
          <p:cNvPr id="29" name="use case 5 icon" descr="preencoded.png">    </p:cNvPr>
          <p:cNvPicPr>
            <a:picLocks noChangeAspect="1"/>
          </p:cNvPicPr>
          <p:nvPr/>
        </p:nvPicPr>
        <p:blipFill>
          <a:blip r:embed="rId5"/>
          <a:stretch>
            <a:fillRect/>
          </a:stretch>
        </p:blipFill>
        <p:spPr>
          <a:xfrm>
            <a:off x="4732020" y="4229100"/>
            <a:ext cx="320040" cy="320040"/>
          </a:xfrm>
          <a:prstGeom prst="rect">
            <a:avLst/>
          </a:prstGeom>
        </p:spPr>
      </p:pic>
      <p:sp>
        <p:nvSpPr>
          <p:cNvPr id="30" name="Text 23"/>
          <p:cNvSpPr txBox="1"/>
          <p:nvPr/>
        </p:nvSpPr>
        <p:spPr>
          <a:xfrm>
            <a:off x="6949440" y="4069080"/>
            <a:ext cx="548640" cy="457200"/>
          </a:xfrm>
          <a:prstGeom prst="rect">
            <a:avLst/>
          </a:prstGeom>
          <a:noFill/>
          <a:ln/>
        </p:spPr>
        <p:txBody>
          <a:bodyPr wrap="square" lIns="0" tIns="0" rIns="0" bIns="0" rtlCol="0" anchor="ctr"/>
          <a:lstStyle/>
          <a:p>
            <a:pPr algn="r" indent="0" marL="0">
              <a:buNone/>
            </a:pPr>
            <a:r>
              <a:rPr lang="en-US" sz="1800" b="1" dirty="0">
                <a:solidFill>
                  <a:srgbClr val="A8A8A8"/>
                </a:solidFill>
              </a:rPr>
              <a:t>05</a:t>
            </a:r>
            <a:endParaRPr lang="en-US" sz="1800" dirty="0"/>
          </a:p>
        </p:txBody>
      </p:sp>
      <p:sp>
        <p:nvSpPr>
          <p:cNvPr id="31" name="Text 24"/>
          <p:cNvSpPr txBox="1"/>
          <p:nvPr/>
        </p:nvSpPr>
        <p:spPr>
          <a:xfrm>
            <a:off x="4572000" y="480060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Commit &amp; PR prep</a:t>
            </a:r>
            <a:endParaRPr lang="en-US" sz="1800" dirty="0"/>
          </a:p>
        </p:txBody>
      </p:sp>
      <p:sp>
        <p:nvSpPr>
          <p:cNvPr id="32" name="Text 25"/>
          <p:cNvSpPr txBox="1"/>
          <p:nvPr/>
        </p:nvSpPr>
        <p:spPr>
          <a:xfrm>
            <a:off x="4572000" y="5212080"/>
            <a:ext cx="3017520" cy="594360"/>
          </a:xfrm>
          <a:prstGeom prst="rect">
            <a:avLst/>
          </a:prstGeom>
          <a:noFill/>
          <a:ln/>
        </p:spPr>
        <p:txBody>
          <a:bodyPr wrap="square" lIns="0" tIns="0" rIns="0" bIns="0" rtlCol="0" anchor="t"/>
          <a:lstStyle/>
          <a:p>
            <a:pPr indent="0" marL="0">
              <a:buNone/>
            </a:pPr>
            <a:r>
              <a:rPr lang="en-US" sz="1400" dirty="0">
                <a:solidFill>
                  <a:srgbClr val="525252"/>
                </a:solidFill>
              </a:rPr>
              <a:t>Conventional commits and reviewer-ready PR summaries</a:t>
            </a:r>
            <a:endParaRPr lang="en-US" sz="1400" dirty="0"/>
          </a:p>
        </p:txBody>
      </p:sp>
      <p:sp>
        <p:nvSpPr>
          <p:cNvPr id="33" name="use case 6"/>
          <p:cNvSpPr/>
          <p:nvPr/>
        </p:nvSpPr>
        <p:spPr>
          <a:xfrm>
            <a:off x="8046720" y="3794760"/>
            <a:ext cx="3474720" cy="2103120"/>
          </a:xfrm>
          <a:prstGeom prst="roundRect">
            <a:avLst>
              <a:gd name="adj" fmla="val 6522"/>
            </a:avLst>
          </a:prstGeom>
          <a:solidFill>
            <a:srgbClr val="FFFFFF"/>
          </a:solidFill>
          <a:ln w="12700">
            <a:solidFill>
              <a:srgbClr val="E0E0E0"/>
            </a:solidFill>
            <a:prstDash val="solid"/>
          </a:ln>
          <a:effectLst>
            <a:outerShdw sx="100000" sy="100000" kx="0" ky="0" algn="bl" rotWithShape="0" blurRad="101600" dist="25400" dir="5400000">
              <a:srgbClr val="000000">
                <a:alpha val="12000"/>
              </a:srgbClr>
            </a:outerShdw>
          </a:effectLst>
        </p:spPr>
      </p:sp>
      <p:sp>
        <p:nvSpPr>
          <p:cNvPr id="34" name="use case 6 circle"/>
          <p:cNvSpPr/>
          <p:nvPr/>
        </p:nvSpPr>
        <p:spPr>
          <a:xfrm>
            <a:off x="8321040" y="4069080"/>
            <a:ext cx="640080" cy="640080"/>
          </a:xfrm>
          <a:prstGeom prst="ellipse">
            <a:avLst/>
          </a:prstGeom>
          <a:solidFill>
            <a:srgbClr val="8A3FFC"/>
          </a:solidFill>
          <a:ln/>
        </p:spPr>
      </p:sp>
      <p:pic>
        <p:nvPicPr>
          <p:cNvPr id="35" name="use case 6 icon" descr="preencoded.png">    </p:cNvPr>
          <p:cNvPicPr>
            <a:picLocks noChangeAspect="1"/>
          </p:cNvPicPr>
          <p:nvPr/>
        </p:nvPicPr>
        <p:blipFill>
          <a:blip r:embed="rId6"/>
          <a:stretch>
            <a:fillRect/>
          </a:stretch>
        </p:blipFill>
        <p:spPr>
          <a:xfrm>
            <a:off x="8481060" y="4229100"/>
            <a:ext cx="320040" cy="320040"/>
          </a:xfrm>
          <a:prstGeom prst="rect">
            <a:avLst/>
          </a:prstGeom>
        </p:spPr>
      </p:pic>
      <p:sp>
        <p:nvSpPr>
          <p:cNvPr id="36" name="Text 28"/>
          <p:cNvSpPr txBox="1"/>
          <p:nvPr/>
        </p:nvSpPr>
        <p:spPr>
          <a:xfrm>
            <a:off x="10698480" y="4069080"/>
            <a:ext cx="548640" cy="457200"/>
          </a:xfrm>
          <a:prstGeom prst="rect">
            <a:avLst/>
          </a:prstGeom>
          <a:noFill/>
          <a:ln/>
        </p:spPr>
        <p:txBody>
          <a:bodyPr wrap="square" lIns="0" tIns="0" rIns="0" bIns="0" rtlCol="0" anchor="ctr"/>
          <a:lstStyle/>
          <a:p>
            <a:pPr algn="r" indent="0" marL="0">
              <a:buNone/>
            </a:pPr>
            <a:r>
              <a:rPr lang="en-US" sz="1800" b="1" dirty="0">
                <a:solidFill>
                  <a:srgbClr val="A8A8A8"/>
                </a:solidFill>
              </a:rPr>
              <a:t>06</a:t>
            </a:r>
            <a:endParaRPr lang="en-US" sz="1800" dirty="0"/>
          </a:p>
        </p:txBody>
      </p:sp>
      <p:sp>
        <p:nvSpPr>
          <p:cNvPr id="37" name="Text 29"/>
          <p:cNvSpPr txBox="1"/>
          <p:nvPr/>
        </p:nvSpPr>
        <p:spPr>
          <a:xfrm>
            <a:off x="8321040" y="4800600"/>
            <a:ext cx="3017520" cy="411480"/>
          </a:xfrm>
          <a:prstGeom prst="rect">
            <a:avLst/>
          </a:prstGeom>
          <a:noFill/>
          <a:ln/>
        </p:spPr>
        <p:txBody>
          <a:bodyPr wrap="square" lIns="0" tIns="0" rIns="0" bIns="0" rtlCol="0" anchor="ctr"/>
          <a:lstStyle/>
          <a:p>
            <a:pPr indent="0" marL="0">
              <a:buNone/>
            </a:pPr>
            <a:r>
              <a:rPr lang="en-US" sz="1800" b="1" dirty="0">
                <a:solidFill>
                  <a:schemeClr val="tx1"/>
                </a:solidFill>
              </a:rPr>
              <a:t>Auditable AI pattern</a:t>
            </a:r>
            <a:endParaRPr lang="en-US" sz="1800" dirty="0"/>
          </a:p>
        </p:txBody>
      </p:sp>
      <p:sp>
        <p:nvSpPr>
          <p:cNvPr id="38" name="Text 30"/>
          <p:cNvSpPr txBox="1"/>
          <p:nvPr/>
        </p:nvSpPr>
        <p:spPr>
          <a:xfrm>
            <a:off x="8321040" y="5212080"/>
            <a:ext cx="3017520" cy="594360"/>
          </a:xfrm>
          <a:prstGeom prst="rect">
            <a:avLst/>
          </a:prstGeom>
          <a:noFill/>
          <a:ln/>
        </p:spPr>
        <p:txBody>
          <a:bodyPr wrap="square" lIns="0" tIns="0" rIns="0" bIns="0" rtlCol="0" anchor="t"/>
          <a:lstStyle/>
          <a:p>
            <a:pPr indent="0" marL="0">
              <a:buNone/>
            </a:pPr>
            <a:r>
              <a:rPr lang="en-US" sz="1400" dirty="0">
                <a:solidFill>
                  <a:srgbClr val="525252"/>
                </a:solidFill>
              </a:rPr>
              <a:t>One governed workflow across 60+ repos, with approvals on record</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F6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Live demo: one feature, issue to green PR</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600" dirty="0">
                <a:solidFill>
                  <a:srgbClr val="C6C6C6"/>
                </a:solidFill>
              </a:rPr>
              <a:t>Harborline's portfolio analytics dashboard: React app tracking IBM against four competitors</a:t>
            </a:r>
            <a:endParaRPr lang="en-US" sz="1600" dirty="0"/>
          </a:p>
        </p:txBody>
      </p:sp>
      <p:sp>
        <p:nvSpPr>
          <p:cNvPr id="4" name="Shape 2"/>
          <p:cNvSpPr/>
          <p:nvPr/>
        </p:nvSpPr>
        <p:spPr>
          <a:xfrm>
            <a:off x="548640" y="2057400"/>
            <a:ext cx="2377440" cy="502920"/>
          </a:xfrm>
          <a:prstGeom prst="roundRect">
            <a:avLst>
              <a:gd name="adj" fmla="val 18182"/>
            </a:avLst>
          </a:prstGeom>
          <a:solidFill>
            <a:srgbClr val="393939"/>
          </a:solidFill>
          <a:ln/>
        </p:spPr>
      </p:sp>
      <p:sp>
        <p:nvSpPr>
          <p:cNvPr id="5" name="Text 3"/>
          <p:cNvSpPr txBox="1"/>
          <p:nvPr/>
        </p:nvSpPr>
        <p:spPr>
          <a:xfrm>
            <a:off x="548640" y="2057400"/>
            <a:ext cx="2377440" cy="502920"/>
          </a:xfrm>
          <a:prstGeom prst="rect">
            <a:avLst/>
          </a:prstGeom>
          <a:noFill/>
          <a:ln/>
        </p:spPr>
        <p:txBody>
          <a:bodyPr wrap="square" lIns="0" tIns="0" rIns="0" bIns="0" rtlCol="0" anchor="ctr"/>
          <a:lstStyle/>
          <a:p>
            <a:pPr algn="ctr" indent="0" marL="0">
              <a:buNone/>
            </a:pPr>
            <a:r>
              <a:rPr lang="en-US" sz="1300" b="1" dirty="0">
                <a:solidFill>
                  <a:schemeClr val="accent2"/>
                </a:solidFill>
              </a:rPr>
              <a:t>PART 1  BUILD  (recap)</a:t>
            </a:r>
            <a:endParaRPr lang="en-US" sz="1300" dirty="0"/>
          </a:p>
        </p:txBody>
      </p:sp>
      <p:sp>
        <p:nvSpPr>
          <p:cNvPr id="6" name="Shape 4"/>
          <p:cNvSpPr/>
          <p:nvPr/>
        </p:nvSpPr>
        <p:spPr>
          <a:xfrm>
            <a:off x="3108960" y="2057400"/>
            <a:ext cx="8503920" cy="502920"/>
          </a:xfrm>
          <a:prstGeom prst="roundRect">
            <a:avLst>
              <a:gd name="adj" fmla="val 18182"/>
            </a:avLst>
          </a:prstGeom>
          <a:solidFill>
            <a:schemeClr val="accent1"/>
          </a:solidFill>
          <a:ln/>
        </p:spPr>
      </p:sp>
      <p:sp>
        <p:nvSpPr>
          <p:cNvPr id="7" name="Text 5"/>
          <p:cNvSpPr txBox="1"/>
          <p:nvPr/>
        </p:nvSpPr>
        <p:spPr>
          <a:xfrm>
            <a:off x="3108960" y="2057400"/>
            <a:ext cx="8503920" cy="502920"/>
          </a:xfrm>
          <a:prstGeom prst="rect">
            <a:avLst/>
          </a:prstGeom>
          <a:noFill/>
          <a:ln/>
        </p:spPr>
        <p:txBody>
          <a:bodyPr wrap="square" lIns="0" tIns="0" rIns="0" bIns="0" rtlCol="0" anchor="ctr"/>
          <a:lstStyle/>
          <a:p>
            <a:pPr algn="ctr" indent="0" marL="0">
              <a:buNone/>
            </a:pPr>
            <a:r>
              <a:rPr lang="en-US" sz="1300" b="1" dirty="0">
                <a:solidFill>
                  <a:srgbClr val="FFFFFF"/>
                </a:solidFill>
              </a:rPr>
              <a:t>PART 2  EVOLVE  (live)</a:t>
            </a:r>
            <a:endParaRPr lang="en-US" sz="1300" dirty="0"/>
          </a:p>
        </p:txBody>
      </p:sp>
      <p:sp>
        <p:nvSpPr>
          <p:cNvPr id="8" name="step 1"/>
          <p:cNvSpPr/>
          <p:nvPr/>
        </p:nvSpPr>
        <p:spPr>
          <a:xfrm>
            <a:off x="927463" y="2926080"/>
            <a:ext cx="822960" cy="822960"/>
          </a:xfrm>
          <a:prstGeom prst="ellipse">
            <a:avLst/>
          </a:prstGeom>
          <a:solidFill>
            <a:srgbClr val="393939"/>
          </a:solidFill>
          <a:ln w="25400">
            <a:solidFill>
              <a:srgbClr val="08BDBA"/>
            </a:solidFill>
            <a:prstDash val="solid"/>
          </a:ln>
        </p:spPr>
      </p:sp>
      <p:sp>
        <p:nvSpPr>
          <p:cNvPr id="9" name="Text 7"/>
          <p:cNvSpPr txBox="1"/>
          <p:nvPr/>
        </p:nvSpPr>
        <p:spPr>
          <a:xfrm>
            <a:off x="927463" y="29260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10" name="Shape 8"/>
          <p:cNvSpPr/>
          <p:nvPr/>
        </p:nvSpPr>
        <p:spPr>
          <a:xfrm>
            <a:off x="1796143" y="3337560"/>
            <a:ext cx="666206" cy="0"/>
          </a:xfrm>
          <a:prstGeom prst="line">
            <a:avLst/>
          </a:prstGeom>
          <a:noFill/>
          <a:ln w="19050">
            <a:solidFill>
              <a:srgbClr val="6F6F6F"/>
            </a:solidFill>
            <a:prstDash val="solid"/>
            <a:tailEnd type="triangle"/>
          </a:ln>
        </p:spPr>
      </p:sp>
      <p:sp>
        <p:nvSpPr>
          <p:cNvPr id="11" name="Text 9"/>
          <p:cNvSpPr txBox="1"/>
          <p:nvPr/>
        </p:nvSpPr>
        <p:spPr>
          <a:xfrm>
            <a:off x="594360" y="3931920"/>
            <a:ext cx="1489166" cy="411480"/>
          </a:xfrm>
          <a:prstGeom prst="rect">
            <a:avLst/>
          </a:prstGeom>
          <a:noFill/>
          <a:ln/>
        </p:spPr>
        <p:txBody>
          <a:bodyPr wrap="square" lIns="0" tIns="0" rIns="0" bIns="0" rtlCol="0" anchor="ctr"/>
          <a:lstStyle/>
          <a:p>
            <a:pPr algn="ctr" indent="0" marL="0">
              <a:buNone/>
            </a:pPr>
            <a:r>
              <a:rPr lang="en-US" sz="1800" b="1" dirty="0">
                <a:solidFill>
                  <a:srgbClr val="FFFFFF"/>
                </a:solidFill>
              </a:rPr>
              <a:t>Recap</a:t>
            </a:r>
            <a:endParaRPr lang="en-US" sz="1800" dirty="0"/>
          </a:p>
        </p:txBody>
      </p:sp>
      <p:sp>
        <p:nvSpPr>
          <p:cNvPr id="12" name="Text 10"/>
          <p:cNvSpPr txBox="1"/>
          <p:nvPr/>
        </p:nvSpPr>
        <p:spPr>
          <a:xfrm>
            <a:off x="594360" y="4389120"/>
            <a:ext cx="1489166" cy="914400"/>
          </a:xfrm>
          <a:prstGeom prst="rect">
            <a:avLst/>
          </a:prstGeom>
          <a:noFill/>
          <a:ln/>
        </p:spPr>
        <p:txBody>
          <a:bodyPr wrap="square" lIns="0" tIns="0" rIns="0" bIns="0" rtlCol="0" anchor="t"/>
          <a:lstStyle/>
          <a:p>
            <a:pPr algn="ctr" indent="0" marL="0">
              <a:buNone/>
            </a:pPr>
            <a:r>
              <a:rPr lang="en-US" sz="1400" dirty="0">
                <a:solidFill>
                  <a:srgbClr val="C6C6C6"/>
                </a:solidFill>
              </a:rPr>
              <a:t>Plan &amp; scaffold from an empty repo</a:t>
            </a:r>
            <a:endParaRPr lang="en-US" sz="1400" dirty="0"/>
          </a:p>
        </p:txBody>
      </p:sp>
      <p:sp>
        <p:nvSpPr>
          <p:cNvPr id="13" name="Text 11"/>
          <p:cNvSpPr txBox="1"/>
          <p:nvPr/>
        </p:nvSpPr>
        <p:spPr>
          <a:xfrm>
            <a:off x="594360" y="5394960"/>
            <a:ext cx="1489166" cy="365760"/>
          </a:xfrm>
          <a:prstGeom prst="rect">
            <a:avLst/>
          </a:prstGeom>
          <a:noFill/>
          <a:ln/>
        </p:spPr>
        <p:txBody>
          <a:bodyPr wrap="square" lIns="0" tIns="0" rIns="0" bIns="0" rtlCol="0" anchor="ctr"/>
          <a:lstStyle/>
          <a:p>
            <a:pPr algn="ctr" indent="0" marL="0">
              <a:buNone/>
            </a:pPr>
            <a:r>
              <a:rPr lang="en-US" sz="1200" dirty="0">
                <a:solidFill>
                  <a:schemeClr val="accent2"/>
                </a:solidFill>
              </a:rPr>
              <a:t>1:15</a:t>
            </a:r>
            <a:endParaRPr lang="en-US" sz="1200" dirty="0"/>
          </a:p>
        </p:txBody>
      </p:sp>
      <p:sp>
        <p:nvSpPr>
          <p:cNvPr id="14" name="step 2"/>
          <p:cNvSpPr/>
          <p:nvPr/>
        </p:nvSpPr>
        <p:spPr>
          <a:xfrm>
            <a:off x="2508069" y="2926080"/>
            <a:ext cx="822960" cy="822960"/>
          </a:xfrm>
          <a:prstGeom prst="ellipse">
            <a:avLst/>
          </a:prstGeom>
          <a:solidFill>
            <a:schemeClr val="accent1"/>
          </a:solidFill>
          <a:ln w="25400">
            <a:solidFill>
              <a:srgbClr val="0F62FE"/>
            </a:solidFill>
            <a:prstDash val="solid"/>
          </a:ln>
        </p:spPr>
      </p:sp>
      <p:sp>
        <p:nvSpPr>
          <p:cNvPr id="15" name="Text 13"/>
          <p:cNvSpPr txBox="1"/>
          <p:nvPr/>
        </p:nvSpPr>
        <p:spPr>
          <a:xfrm>
            <a:off x="2508069" y="29260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6" name="Shape 14"/>
          <p:cNvSpPr/>
          <p:nvPr/>
        </p:nvSpPr>
        <p:spPr>
          <a:xfrm>
            <a:off x="3376749" y="3337560"/>
            <a:ext cx="666206" cy="0"/>
          </a:xfrm>
          <a:prstGeom prst="line">
            <a:avLst/>
          </a:prstGeom>
          <a:noFill/>
          <a:ln w="19050">
            <a:solidFill>
              <a:srgbClr val="6F6F6F"/>
            </a:solidFill>
            <a:prstDash val="solid"/>
            <a:tailEnd type="triangle"/>
          </a:ln>
        </p:spPr>
      </p:sp>
      <p:sp>
        <p:nvSpPr>
          <p:cNvPr id="17" name="Text 15"/>
          <p:cNvSpPr txBox="1"/>
          <p:nvPr/>
        </p:nvSpPr>
        <p:spPr>
          <a:xfrm>
            <a:off x="2174966" y="3931920"/>
            <a:ext cx="1489166" cy="411480"/>
          </a:xfrm>
          <a:prstGeom prst="rect">
            <a:avLst/>
          </a:prstGeom>
          <a:noFill/>
          <a:ln/>
        </p:spPr>
        <p:txBody>
          <a:bodyPr wrap="square" lIns="0" tIns="0" rIns="0" bIns="0" rtlCol="0" anchor="ctr"/>
          <a:lstStyle/>
          <a:p>
            <a:pPr algn="ctr" indent="0" marL="0">
              <a:buNone/>
            </a:pPr>
            <a:r>
              <a:rPr lang="en-US" sz="1800" b="1" dirty="0">
                <a:solidFill>
                  <a:srgbClr val="FFFFFF"/>
                </a:solidFill>
              </a:rPr>
              <a:t>Issue</a:t>
            </a:r>
            <a:endParaRPr lang="en-US" sz="1800" dirty="0"/>
          </a:p>
        </p:txBody>
      </p:sp>
      <p:sp>
        <p:nvSpPr>
          <p:cNvPr id="18" name="Text 16"/>
          <p:cNvSpPr txBox="1"/>
          <p:nvPr/>
        </p:nvSpPr>
        <p:spPr>
          <a:xfrm>
            <a:off x="2174966" y="4389120"/>
            <a:ext cx="1489166" cy="914400"/>
          </a:xfrm>
          <a:prstGeom prst="rect">
            <a:avLst/>
          </a:prstGeom>
          <a:noFill/>
          <a:ln/>
        </p:spPr>
        <p:txBody>
          <a:bodyPr wrap="square" lIns="0" tIns="0" rIns="0" bIns="0" rtlCol="0" anchor="t"/>
          <a:lstStyle/>
          <a:p>
            <a:pPr algn="ctr" indent="0" marL="0">
              <a:buNone/>
            </a:pPr>
            <a:r>
              <a:rPr lang="en-US" sz="1400" dirty="0">
                <a:solidFill>
                  <a:srgbClr val="C6C6C6"/>
                </a:solidFill>
              </a:rPr>
              <a:t>Open GitHub issue #1</a:t>
            </a:r>
            <a:endParaRPr lang="en-US" sz="1400" dirty="0"/>
          </a:p>
        </p:txBody>
      </p:sp>
      <p:sp>
        <p:nvSpPr>
          <p:cNvPr id="19" name="Text 17"/>
          <p:cNvSpPr txBox="1"/>
          <p:nvPr/>
        </p:nvSpPr>
        <p:spPr>
          <a:xfrm>
            <a:off x="2174966" y="5394960"/>
            <a:ext cx="1489166" cy="365760"/>
          </a:xfrm>
          <a:prstGeom prst="rect">
            <a:avLst/>
          </a:prstGeom>
          <a:noFill/>
          <a:ln/>
        </p:spPr>
        <p:txBody>
          <a:bodyPr wrap="square" lIns="0" tIns="0" rIns="0" bIns="0" rtlCol="0" anchor="ctr"/>
          <a:lstStyle/>
          <a:p>
            <a:pPr algn="ctr" indent="0" marL="0">
              <a:buNone/>
            </a:pPr>
            <a:r>
              <a:rPr lang="en-US" sz="1200" dirty="0">
                <a:solidFill>
                  <a:schemeClr val="accent2"/>
                </a:solidFill>
              </a:rPr>
              <a:t>0:30</a:t>
            </a:r>
            <a:endParaRPr lang="en-US" sz="1200" dirty="0"/>
          </a:p>
        </p:txBody>
      </p:sp>
      <p:sp>
        <p:nvSpPr>
          <p:cNvPr id="20" name="step 3"/>
          <p:cNvSpPr/>
          <p:nvPr/>
        </p:nvSpPr>
        <p:spPr>
          <a:xfrm>
            <a:off x="4088674" y="2926080"/>
            <a:ext cx="822960" cy="822960"/>
          </a:xfrm>
          <a:prstGeom prst="ellipse">
            <a:avLst/>
          </a:prstGeom>
          <a:solidFill>
            <a:schemeClr val="accent1"/>
          </a:solidFill>
          <a:ln w="25400">
            <a:solidFill>
              <a:srgbClr val="0F62FE"/>
            </a:solidFill>
            <a:prstDash val="solid"/>
          </a:ln>
        </p:spPr>
      </p:sp>
      <p:sp>
        <p:nvSpPr>
          <p:cNvPr id="21" name="Text 19"/>
          <p:cNvSpPr txBox="1"/>
          <p:nvPr/>
        </p:nvSpPr>
        <p:spPr>
          <a:xfrm>
            <a:off x="4088674" y="29260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22" name="Shape 20"/>
          <p:cNvSpPr/>
          <p:nvPr/>
        </p:nvSpPr>
        <p:spPr>
          <a:xfrm>
            <a:off x="4957354" y="3337560"/>
            <a:ext cx="666206" cy="0"/>
          </a:xfrm>
          <a:prstGeom prst="line">
            <a:avLst/>
          </a:prstGeom>
          <a:noFill/>
          <a:ln w="19050">
            <a:solidFill>
              <a:srgbClr val="6F6F6F"/>
            </a:solidFill>
            <a:prstDash val="solid"/>
            <a:tailEnd type="triangle"/>
          </a:ln>
        </p:spPr>
      </p:sp>
      <p:sp>
        <p:nvSpPr>
          <p:cNvPr id="23" name="Text 21"/>
          <p:cNvSpPr txBox="1"/>
          <p:nvPr/>
        </p:nvSpPr>
        <p:spPr>
          <a:xfrm>
            <a:off x="3755571" y="3931920"/>
            <a:ext cx="1489166" cy="411480"/>
          </a:xfrm>
          <a:prstGeom prst="rect">
            <a:avLst/>
          </a:prstGeom>
          <a:noFill/>
          <a:ln/>
        </p:spPr>
        <p:txBody>
          <a:bodyPr wrap="square" lIns="0" tIns="0" rIns="0" bIns="0" rtlCol="0" anchor="ctr"/>
          <a:lstStyle/>
          <a:p>
            <a:pPr algn="ctr" indent="0" marL="0">
              <a:buNone/>
            </a:pPr>
            <a:r>
              <a:rPr lang="en-US" sz="1800" b="1" dirty="0">
                <a:solidFill>
                  <a:srgbClr val="FFFFFF"/>
                </a:solidFill>
              </a:rPr>
              <a:t>Plan</a:t>
            </a:r>
            <a:endParaRPr lang="en-US" sz="1800" dirty="0"/>
          </a:p>
        </p:txBody>
      </p:sp>
      <p:sp>
        <p:nvSpPr>
          <p:cNvPr id="24" name="Text 22"/>
          <p:cNvSpPr txBox="1"/>
          <p:nvPr/>
        </p:nvSpPr>
        <p:spPr>
          <a:xfrm>
            <a:off x="3755571" y="4389120"/>
            <a:ext cx="1489166" cy="914400"/>
          </a:xfrm>
          <a:prstGeom prst="rect">
            <a:avLst/>
          </a:prstGeom>
          <a:noFill/>
          <a:ln/>
        </p:spPr>
        <p:txBody>
          <a:bodyPr wrap="square" lIns="0" tIns="0" rIns="0" bIns="0" rtlCol="0" anchor="t"/>
          <a:lstStyle/>
          <a:p>
            <a:pPr algn="ctr" indent="0" marL="0">
              <a:buNone/>
            </a:pPr>
            <a:r>
              <a:rPr lang="en-US" sz="1400" dirty="0">
                <a:solidFill>
                  <a:srgbClr val="C6C6C6"/>
                </a:solidFill>
              </a:rPr>
              <a:t>Bob reads the issue and proposes sub-tasks</a:t>
            </a:r>
            <a:endParaRPr lang="en-US" sz="1400" dirty="0"/>
          </a:p>
        </p:txBody>
      </p:sp>
      <p:sp>
        <p:nvSpPr>
          <p:cNvPr id="25" name="Text 23"/>
          <p:cNvSpPr txBox="1"/>
          <p:nvPr/>
        </p:nvSpPr>
        <p:spPr>
          <a:xfrm>
            <a:off x="3755571" y="5394960"/>
            <a:ext cx="1489166" cy="365760"/>
          </a:xfrm>
          <a:prstGeom prst="rect">
            <a:avLst/>
          </a:prstGeom>
          <a:noFill/>
          <a:ln/>
        </p:spPr>
        <p:txBody>
          <a:bodyPr wrap="square" lIns="0" tIns="0" rIns="0" bIns="0" rtlCol="0" anchor="ctr"/>
          <a:lstStyle/>
          <a:p>
            <a:pPr algn="ctr" indent="0" marL="0">
              <a:buNone/>
            </a:pPr>
            <a:r>
              <a:rPr lang="en-US" sz="1200" dirty="0">
                <a:solidFill>
                  <a:schemeClr val="accent2"/>
                </a:solidFill>
              </a:rPr>
              <a:t>1:00</a:t>
            </a:r>
            <a:endParaRPr lang="en-US" sz="1200" dirty="0"/>
          </a:p>
        </p:txBody>
      </p:sp>
      <p:sp>
        <p:nvSpPr>
          <p:cNvPr id="26" name="step 4"/>
          <p:cNvSpPr/>
          <p:nvPr/>
        </p:nvSpPr>
        <p:spPr>
          <a:xfrm>
            <a:off x="5669280" y="2926080"/>
            <a:ext cx="822960" cy="822960"/>
          </a:xfrm>
          <a:prstGeom prst="ellipse">
            <a:avLst/>
          </a:prstGeom>
          <a:solidFill>
            <a:schemeClr val="accent1"/>
          </a:solidFill>
          <a:ln w="25400">
            <a:solidFill>
              <a:srgbClr val="0F62FE"/>
            </a:solidFill>
            <a:prstDash val="solid"/>
          </a:ln>
        </p:spPr>
      </p:sp>
      <p:sp>
        <p:nvSpPr>
          <p:cNvPr id="27" name="Text 25"/>
          <p:cNvSpPr txBox="1"/>
          <p:nvPr/>
        </p:nvSpPr>
        <p:spPr>
          <a:xfrm>
            <a:off x="5669280" y="29260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4</a:t>
            </a:r>
            <a:endParaRPr lang="en-US" sz="2400" dirty="0"/>
          </a:p>
        </p:txBody>
      </p:sp>
      <p:sp>
        <p:nvSpPr>
          <p:cNvPr id="28" name="Shape 26"/>
          <p:cNvSpPr/>
          <p:nvPr/>
        </p:nvSpPr>
        <p:spPr>
          <a:xfrm>
            <a:off x="6537960" y="3337560"/>
            <a:ext cx="666206" cy="0"/>
          </a:xfrm>
          <a:prstGeom prst="line">
            <a:avLst/>
          </a:prstGeom>
          <a:noFill/>
          <a:ln w="19050">
            <a:solidFill>
              <a:srgbClr val="6F6F6F"/>
            </a:solidFill>
            <a:prstDash val="solid"/>
            <a:tailEnd type="triangle"/>
          </a:ln>
        </p:spPr>
      </p:sp>
      <p:sp>
        <p:nvSpPr>
          <p:cNvPr id="29" name="Text 27"/>
          <p:cNvSpPr txBox="1"/>
          <p:nvPr/>
        </p:nvSpPr>
        <p:spPr>
          <a:xfrm>
            <a:off x="5336177" y="3931920"/>
            <a:ext cx="1489166" cy="411480"/>
          </a:xfrm>
          <a:prstGeom prst="rect">
            <a:avLst/>
          </a:prstGeom>
          <a:noFill/>
          <a:ln/>
        </p:spPr>
        <p:txBody>
          <a:bodyPr wrap="square" lIns="0" tIns="0" rIns="0" bIns="0" rtlCol="0" anchor="ctr"/>
          <a:lstStyle/>
          <a:p>
            <a:pPr algn="ctr" indent="0" marL="0">
              <a:buNone/>
            </a:pPr>
            <a:r>
              <a:rPr lang="en-US" sz="1800" b="1" dirty="0">
                <a:solidFill>
                  <a:srgbClr val="FFFFFF"/>
                </a:solidFill>
              </a:rPr>
              <a:t>Implement</a:t>
            </a:r>
            <a:endParaRPr lang="en-US" sz="1800" dirty="0"/>
          </a:p>
        </p:txBody>
      </p:sp>
      <p:sp>
        <p:nvSpPr>
          <p:cNvPr id="30" name="Text 28"/>
          <p:cNvSpPr txBox="1"/>
          <p:nvPr/>
        </p:nvSpPr>
        <p:spPr>
          <a:xfrm>
            <a:off x="5336177" y="4389120"/>
            <a:ext cx="1489166" cy="914400"/>
          </a:xfrm>
          <a:prstGeom prst="rect">
            <a:avLst/>
          </a:prstGeom>
          <a:noFill/>
          <a:ln/>
        </p:spPr>
        <p:txBody>
          <a:bodyPr wrap="square" lIns="0" tIns="0" rIns="0" bIns="0" rtlCol="0" anchor="t"/>
          <a:lstStyle/>
          <a:p>
            <a:pPr algn="ctr" indent="0" marL="0">
              <a:buNone/>
            </a:pPr>
            <a:r>
              <a:rPr lang="en-US" sz="1400" dirty="0">
                <a:solidFill>
                  <a:srgbClr val="C6C6C6"/>
                </a:solidFill>
              </a:rPr>
              <a:t>Approve; Bob builds it step by step</a:t>
            </a:r>
            <a:endParaRPr lang="en-US" sz="1400" dirty="0"/>
          </a:p>
        </p:txBody>
      </p:sp>
      <p:sp>
        <p:nvSpPr>
          <p:cNvPr id="31" name="Text 29"/>
          <p:cNvSpPr txBox="1"/>
          <p:nvPr/>
        </p:nvSpPr>
        <p:spPr>
          <a:xfrm>
            <a:off x="5336177" y="5394960"/>
            <a:ext cx="1489166" cy="365760"/>
          </a:xfrm>
          <a:prstGeom prst="rect">
            <a:avLst/>
          </a:prstGeom>
          <a:noFill/>
          <a:ln/>
        </p:spPr>
        <p:txBody>
          <a:bodyPr wrap="square" lIns="0" tIns="0" rIns="0" bIns="0" rtlCol="0" anchor="ctr"/>
          <a:lstStyle/>
          <a:p>
            <a:pPr algn="ctr" indent="0" marL="0">
              <a:buNone/>
            </a:pPr>
            <a:r>
              <a:rPr lang="en-US" sz="1200" dirty="0">
                <a:solidFill>
                  <a:schemeClr val="accent2"/>
                </a:solidFill>
              </a:rPr>
              <a:t>1:30</a:t>
            </a:r>
            <a:endParaRPr lang="en-US" sz="1200" dirty="0"/>
          </a:p>
        </p:txBody>
      </p:sp>
      <p:sp>
        <p:nvSpPr>
          <p:cNvPr id="32" name="step 5"/>
          <p:cNvSpPr/>
          <p:nvPr/>
        </p:nvSpPr>
        <p:spPr>
          <a:xfrm>
            <a:off x="7249886" y="2926080"/>
            <a:ext cx="822960" cy="822960"/>
          </a:xfrm>
          <a:prstGeom prst="ellipse">
            <a:avLst/>
          </a:prstGeom>
          <a:solidFill>
            <a:schemeClr val="accent1"/>
          </a:solidFill>
          <a:ln w="25400">
            <a:solidFill>
              <a:srgbClr val="0F62FE"/>
            </a:solidFill>
            <a:prstDash val="solid"/>
          </a:ln>
        </p:spPr>
      </p:sp>
      <p:sp>
        <p:nvSpPr>
          <p:cNvPr id="33" name="Text 31"/>
          <p:cNvSpPr txBox="1"/>
          <p:nvPr/>
        </p:nvSpPr>
        <p:spPr>
          <a:xfrm>
            <a:off x="7249886" y="29260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34" name="Shape 32"/>
          <p:cNvSpPr/>
          <p:nvPr/>
        </p:nvSpPr>
        <p:spPr>
          <a:xfrm>
            <a:off x="8118566" y="3337560"/>
            <a:ext cx="666206" cy="0"/>
          </a:xfrm>
          <a:prstGeom prst="line">
            <a:avLst/>
          </a:prstGeom>
          <a:noFill/>
          <a:ln w="19050">
            <a:solidFill>
              <a:srgbClr val="6F6F6F"/>
            </a:solidFill>
            <a:prstDash val="solid"/>
            <a:tailEnd type="triangle"/>
          </a:ln>
        </p:spPr>
      </p:sp>
      <p:sp>
        <p:nvSpPr>
          <p:cNvPr id="35" name="Text 33"/>
          <p:cNvSpPr txBox="1"/>
          <p:nvPr/>
        </p:nvSpPr>
        <p:spPr>
          <a:xfrm>
            <a:off x="6916783" y="3931920"/>
            <a:ext cx="1489166" cy="411480"/>
          </a:xfrm>
          <a:prstGeom prst="rect">
            <a:avLst/>
          </a:prstGeom>
          <a:noFill/>
          <a:ln/>
        </p:spPr>
        <p:txBody>
          <a:bodyPr wrap="square" lIns="0" tIns="0" rIns="0" bIns="0" rtlCol="0" anchor="ctr"/>
          <a:lstStyle/>
          <a:p>
            <a:pPr algn="ctr" indent="0" marL="0">
              <a:buNone/>
            </a:pPr>
            <a:r>
              <a:rPr lang="en-US" sz="1800" b="1" dirty="0">
                <a:solidFill>
                  <a:srgbClr val="FFFFFF"/>
                </a:solidFill>
              </a:rPr>
              <a:t>Validate</a:t>
            </a:r>
            <a:endParaRPr lang="en-US" sz="1800" dirty="0"/>
          </a:p>
        </p:txBody>
      </p:sp>
      <p:sp>
        <p:nvSpPr>
          <p:cNvPr id="36" name="Text 34"/>
          <p:cNvSpPr txBox="1"/>
          <p:nvPr/>
        </p:nvSpPr>
        <p:spPr>
          <a:xfrm>
            <a:off x="6916783" y="4389120"/>
            <a:ext cx="1489166" cy="914400"/>
          </a:xfrm>
          <a:prstGeom prst="rect">
            <a:avLst/>
          </a:prstGeom>
          <a:noFill/>
          <a:ln/>
        </p:spPr>
        <p:txBody>
          <a:bodyPr wrap="square" lIns="0" tIns="0" rIns="0" bIns="0" rtlCol="0" anchor="t"/>
          <a:lstStyle/>
          <a:p>
            <a:pPr algn="ctr" indent="0" marL="0">
              <a:buNone/>
            </a:pPr>
            <a:r>
              <a:rPr lang="en-US" sz="1400" dirty="0">
                <a:solidFill>
                  <a:srgbClr val="C6C6C6"/>
                </a:solidFill>
              </a:rPr>
              <a:t>npm run validate: lint, test, build</a:t>
            </a:r>
            <a:endParaRPr lang="en-US" sz="1400" dirty="0"/>
          </a:p>
        </p:txBody>
      </p:sp>
      <p:sp>
        <p:nvSpPr>
          <p:cNvPr id="37" name="Text 35"/>
          <p:cNvSpPr txBox="1"/>
          <p:nvPr/>
        </p:nvSpPr>
        <p:spPr>
          <a:xfrm>
            <a:off x="6916783" y="5394960"/>
            <a:ext cx="1489166" cy="365760"/>
          </a:xfrm>
          <a:prstGeom prst="rect">
            <a:avLst/>
          </a:prstGeom>
          <a:noFill/>
          <a:ln/>
        </p:spPr>
        <p:txBody>
          <a:bodyPr wrap="square" lIns="0" tIns="0" rIns="0" bIns="0" rtlCol="0" anchor="ctr"/>
          <a:lstStyle/>
          <a:p>
            <a:pPr algn="ctr" indent="0" marL="0">
              <a:buNone/>
            </a:pPr>
            <a:r>
              <a:rPr lang="en-US" sz="1200" dirty="0">
                <a:solidFill>
                  <a:schemeClr val="accent2"/>
                </a:solidFill>
              </a:rPr>
              <a:t>0:45</a:t>
            </a:r>
            <a:endParaRPr lang="en-US" sz="1200" dirty="0"/>
          </a:p>
        </p:txBody>
      </p:sp>
      <p:sp>
        <p:nvSpPr>
          <p:cNvPr id="38" name="step 6"/>
          <p:cNvSpPr/>
          <p:nvPr/>
        </p:nvSpPr>
        <p:spPr>
          <a:xfrm>
            <a:off x="8830491" y="2926080"/>
            <a:ext cx="822960" cy="822960"/>
          </a:xfrm>
          <a:prstGeom prst="ellipse">
            <a:avLst/>
          </a:prstGeom>
          <a:solidFill>
            <a:schemeClr val="accent1"/>
          </a:solidFill>
          <a:ln w="25400">
            <a:solidFill>
              <a:srgbClr val="0F62FE"/>
            </a:solidFill>
            <a:prstDash val="solid"/>
          </a:ln>
        </p:spPr>
      </p:sp>
      <p:sp>
        <p:nvSpPr>
          <p:cNvPr id="39" name="Text 37"/>
          <p:cNvSpPr txBox="1"/>
          <p:nvPr/>
        </p:nvSpPr>
        <p:spPr>
          <a:xfrm>
            <a:off x="8830491" y="29260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6</a:t>
            </a:r>
            <a:endParaRPr lang="en-US" sz="2400" dirty="0"/>
          </a:p>
        </p:txBody>
      </p:sp>
      <p:sp>
        <p:nvSpPr>
          <p:cNvPr id="40" name="Shape 38"/>
          <p:cNvSpPr/>
          <p:nvPr/>
        </p:nvSpPr>
        <p:spPr>
          <a:xfrm>
            <a:off x="9699171" y="3337560"/>
            <a:ext cx="666206" cy="0"/>
          </a:xfrm>
          <a:prstGeom prst="line">
            <a:avLst/>
          </a:prstGeom>
          <a:noFill/>
          <a:ln w="19050">
            <a:solidFill>
              <a:srgbClr val="6F6F6F"/>
            </a:solidFill>
            <a:prstDash val="solid"/>
            <a:tailEnd type="triangle"/>
          </a:ln>
        </p:spPr>
      </p:sp>
      <p:sp>
        <p:nvSpPr>
          <p:cNvPr id="41" name="Text 39"/>
          <p:cNvSpPr txBox="1"/>
          <p:nvPr/>
        </p:nvSpPr>
        <p:spPr>
          <a:xfrm>
            <a:off x="8497389" y="3931920"/>
            <a:ext cx="1489166" cy="411480"/>
          </a:xfrm>
          <a:prstGeom prst="rect">
            <a:avLst/>
          </a:prstGeom>
          <a:noFill/>
          <a:ln/>
        </p:spPr>
        <p:txBody>
          <a:bodyPr wrap="square" lIns="0" tIns="0" rIns="0" bIns="0" rtlCol="0" anchor="ctr"/>
          <a:lstStyle/>
          <a:p>
            <a:pPr algn="ctr" indent="0" marL="0">
              <a:buNone/>
            </a:pPr>
            <a:r>
              <a:rPr lang="en-US" sz="1800" b="1" dirty="0">
                <a:solidFill>
                  <a:srgbClr val="FFFFFF"/>
                </a:solidFill>
              </a:rPr>
              <a:t>Push + CI</a:t>
            </a:r>
            <a:endParaRPr lang="en-US" sz="1800" dirty="0"/>
          </a:p>
        </p:txBody>
      </p:sp>
      <p:sp>
        <p:nvSpPr>
          <p:cNvPr id="42" name="Text 40"/>
          <p:cNvSpPr txBox="1"/>
          <p:nvPr/>
        </p:nvSpPr>
        <p:spPr>
          <a:xfrm>
            <a:off x="8497389" y="4389120"/>
            <a:ext cx="1489166" cy="914400"/>
          </a:xfrm>
          <a:prstGeom prst="rect">
            <a:avLst/>
          </a:prstGeom>
          <a:noFill/>
          <a:ln/>
        </p:spPr>
        <p:txBody>
          <a:bodyPr wrap="square" lIns="0" tIns="0" rIns="0" bIns="0" rtlCol="0" anchor="t"/>
          <a:lstStyle/>
          <a:p>
            <a:pPr algn="ctr" indent="0" marL="0">
              <a:buNone/>
            </a:pPr>
            <a:r>
              <a:rPr lang="en-US" sz="1400" dirty="0">
                <a:solidFill>
                  <a:srgbClr val="C6C6C6"/>
                </a:solidFill>
              </a:rPr>
              <a:t>Feature branch triggers GitHub Actions</a:t>
            </a:r>
            <a:endParaRPr lang="en-US" sz="1400" dirty="0"/>
          </a:p>
        </p:txBody>
      </p:sp>
      <p:sp>
        <p:nvSpPr>
          <p:cNvPr id="43" name="Text 41"/>
          <p:cNvSpPr txBox="1"/>
          <p:nvPr/>
        </p:nvSpPr>
        <p:spPr>
          <a:xfrm>
            <a:off x="8497389" y="5394960"/>
            <a:ext cx="1489166" cy="365760"/>
          </a:xfrm>
          <a:prstGeom prst="rect">
            <a:avLst/>
          </a:prstGeom>
          <a:noFill/>
          <a:ln/>
        </p:spPr>
        <p:txBody>
          <a:bodyPr wrap="square" lIns="0" tIns="0" rIns="0" bIns="0" rtlCol="0" anchor="ctr"/>
          <a:lstStyle/>
          <a:p>
            <a:pPr algn="ctr" indent="0" marL="0">
              <a:buNone/>
            </a:pPr>
            <a:r>
              <a:rPr lang="en-US" sz="1200" dirty="0">
                <a:solidFill>
                  <a:schemeClr val="accent2"/>
                </a:solidFill>
              </a:rPr>
              <a:t>1:00</a:t>
            </a:r>
            <a:endParaRPr lang="en-US" sz="1200" dirty="0"/>
          </a:p>
        </p:txBody>
      </p:sp>
      <p:sp>
        <p:nvSpPr>
          <p:cNvPr id="44" name="step 7"/>
          <p:cNvSpPr/>
          <p:nvPr/>
        </p:nvSpPr>
        <p:spPr>
          <a:xfrm>
            <a:off x="10411097" y="2926080"/>
            <a:ext cx="822960" cy="822960"/>
          </a:xfrm>
          <a:prstGeom prst="ellipse">
            <a:avLst/>
          </a:prstGeom>
          <a:solidFill>
            <a:schemeClr val="accent1"/>
          </a:solidFill>
          <a:ln w="25400">
            <a:solidFill>
              <a:srgbClr val="0F62FE"/>
            </a:solidFill>
            <a:prstDash val="solid"/>
          </a:ln>
        </p:spPr>
      </p:sp>
      <p:sp>
        <p:nvSpPr>
          <p:cNvPr id="45" name="Text 43"/>
          <p:cNvSpPr txBox="1"/>
          <p:nvPr/>
        </p:nvSpPr>
        <p:spPr>
          <a:xfrm>
            <a:off x="10411097" y="29260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7</a:t>
            </a:r>
            <a:endParaRPr lang="en-US" sz="2400" dirty="0"/>
          </a:p>
        </p:txBody>
      </p:sp>
      <p:sp>
        <p:nvSpPr>
          <p:cNvPr id="46" name="Text 44"/>
          <p:cNvSpPr txBox="1"/>
          <p:nvPr/>
        </p:nvSpPr>
        <p:spPr>
          <a:xfrm>
            <a:off x="10077994" y="3931920"/>
            <a:ext cx="1489166" cy="411480"/>
          </a:xfrm>
          <a:prstGeom prst="rect">
            <a:avLst/>
          </a:prstGeom>
          <a:noFill/>
          <a:ln/>
        </p:spPr>
        <p:txBody>
          <a:bodyPr wrap="square" lIns="0" tIns="0" rIns="0" bIns="0" rtlCol="0" anchor="ctr"/>
          <a:lstStyle/>
          <a:p>
            <a:pPr algn="ctr" indent="0" marL="0">
              <a:buNone/>
            </a:pPr>
            <a:r>
              <a:rPr lang="en-US" sz="1800" b="1" dirty="0">
                <a:solidFill>
                  <a:srgbClr val="FFFFFF"/>
                </a:solidFill>
              </a:rPr>
              <a:t>PR</a:t>
            </a:r>
            <a:endParaRPr lang="en-US" sz="1800" dirty="0"/>
          </a:p>
        </p:txBody>
      </p:sp>
      <p:sp>
        <p:nvSpPr>
          <p:cNvPr id="47" name="Text 45"/>
          <p:cNvSpPr txBox="1"/>
          <p:nvPr/>
        </p:nvSpPr>
        <p:spPr>
          <a:xfrm>
            <a:off x="10077994" y="4389120"/>
            <a:ext cx="1489166" cy="914400"/>
          </a:xfrm>
          <a:prstGeom prst="rect">
            <a:avLst/>
          </a:prstGeom>
          <a:noFill/>
          <a:ln/>
        </p:spPr>
        <p:txBody>
          <a:bodyPr wrap="square" lIns="0" tIns="0" rIns="0" bIns="0" rtlCol="0" anchor="t"/>
          <a:lstStyle/>
          <a:p>
            <a:pPr algn="ctr" indent="0" marL="0">
              <a:buNone/>
            </a:pPr>
            <a:r>
              <a:rPr lang="en-US" sz="1400" dirty="0">
                <a:solidFill>
                  <a:srgbClr val="C6C6C6"/>
                </a:solidFill>
              </a:rPr>
              <a:t>Merge-ready pull request</a:t>
            </a:r>
            <a:endParaRPr lang="en-US" sz="1400" dirty="0"/>
          </a:p>
        </p:txBody>
      </p:sp>
      <p:sp>
        <p:nvSpPr>
          <p:cNvPr id="48" name="Text 46"/>
          <p:cNvSpPr txBox="1"/>
          <p:nvPr/>
        </p:nvSpPr>
        <p:spPr>
          <a:xfrm>
            <a:off x="10077994" y="5394960"/>
            <a:ext cx="1489166" cy="365760"/>
          </a:xfrm>
          <a:prstGeom prst="rect">
            <a:avLst/>
          </a:prstGeom>
          <a:noFill/>
          <a:ln/>
        </p:spPr>
        <p:txBody>
          <a:bodyPr wrap="square" lIns="0" tIns="0" rIns="0" bIns="0" rtlCol="0" anchor="ctr"/>
          <a:lstStyle/>
          <a:p>
            <a:pPr algn="ctr" indent="0" marL="0">
              <a:buNone/>
            </a:pPr>
            <a:r>
              <a:rPr lang="en-US" sz="1200" dirty="0">
                <a:solidFill>
                  <a:schemeClr val="accent2"/>
                </a:solidFill>
              </a:rPr>
              <a:t>0:45</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Part 1 recap: built by Bob from an empty repo</a:t>
            </a:r>
            <a:endParaRPr lang="en-US" sz="3600" dirty="0"/>
          </a:p>
        </p:txBody>
      </p:sp>
      <p:sp>
        <p:nvSpPr>
          <p:cNvPr id="3" name="fact 1"/>
          <p:cNvSpPr/>
          <p:nvPr/>
        </p:nvSpPr>
        <p:spPr>
          <a:xfrm>
            <a:off x="548640" y="1463040"/>
            <a:ext cx="2606040" cy="1828800"/>
          </a:xfrm>
          <a:prstGeom prst="roundRect">
            <a:avLst>
              <a:gd name="adj" fmla="val 7500"/>
            </a:avLst>
          </a:prstGeom>
          <a:solidFill>
            <a:srgbClr val="262626"/>
          </a:solidFill>
          <a:ln/>
        </p:spPr>
      </p:sp>
      <p:sp>
        <p:nvSpPr>
          <p:cNvPr id="4" name="Text 2"/>
          <p:cNvSpPr txBox="1"/>
          <p:nvPr/>
        </p:nvSpPr>
        <p:spPr>
          <a:xfrm>
            <a:off x="822960" y="1600200"/>
            <a:ext cx="2103120" cy="914400"/>
          </a:xfrm>
          <a:prstGeom prst="rect">
            <a:avLst/>
          </a:prstGeom>
          <a:noFill/>
          <a:ln/>
        </p:spPr>
        <p:txBody>
          <a:bodyPr wrap="square" lIns="0" tIns="0" rIns="0" bIns="0" rtlCol="0" anchor="ctr"/>
          <a:lstStyle/>
          <a:p>
            <a:pPr indent="0" marL="0">
              <a:buNone/>
            </a:pPr>
            <a:r>
              <a:rPr lang="en-US" sz="6000" b="1" dirty="0">
                <a:solidFill>
                  <a:schemeClr val="accent1"/>
                </a:solidFill>
              </a:rPr>
              <a:t>1</a:t>
            </a:r>
            <a:endParaRPr lang="en-US" sz="6000" dirty="0"/>
          </a:p>
        </p:txBody>
      </p:sp>
      <p:sp>
        <p:nvSpPr>
          <p:cNvPr id="5" name="Text 3"/>
          <p:cNvSpPr txBox="1"/>
          <p:nvPr/>
        </p:nvSpPr>
        <p:spPr>
          <a:xfrm>
            <a:off x="822960" y="2560320"/>
            <a:ext cx="2148840" cy="640080"/>
          </a:xfrm>
          <a:prstGeom prst="rect">
            <a:avLst/>
          </a:prstGeom>
          <a:noFill/>
          <a:ln/>
        </p:spPr>
        <p:txBody>
          <a:bodyPr wrap="square" lIns="0" tIns="0" rIns="0" bIns="0" rtlCol="0" anchor="t"/>
          <a:lstStyle/>
          <a:p>
            <a:pPr indent="0" marL="0">
              <a:buNone/>
            </a:pPr>
            <a:r>
              <a:rPr lang="en-US" sz="1400" dirty="0">
                <a:solidFill>
                  <a:srgbClr val="C6C6C6"/>
                </a:solidFill>
              </a:rPr>
              <a:t>natural-language prompt to start</a:t>
            </a:r>
            <a:endParaRPr lang="en-US" sz="1400" dirty="0"/>
          </a:p>
        </p:txBody>
      </p:sp>
      <p:sp>
        <p:nvSpPr>
          <p:cNvPr id="6" name="fact 2"/>
          <p:cNvSpPr/>
          <p:nvPr/>
        </p:nvSpPr>
        <p:spPr>
          <a:xfrm>
            <a:off x="3383280" y="1463040"/>
            <a:ext cx="2606040" cy="1828800"/>
          </a:xfrm>
          <a:prstGeom prst="roundRect">
            <a:avLst>
              <a:gd name="adj" fmla="val 7500"/>
            </a:avLst>
          </a:prstGeom>
          <a:solidFill>
            <a:srgbClr val="262626"/>
          </a:solidFill>
          <a:ln/>
        </p:spPr>
      </p:sp>
      <p:sp>
        <p:nvSpPr>
          <p:cNvPr id="7" name="Text 5"/>
          <p:cNvSpPr txBox="1"/>
          <p:nvPr/>
        </p:nvSpPr>
        <p:spPr>
          <a:xfrm>
            <a:off x="3657600" y="1600200"/>
            <a:ext cx="2103120" cy="914400"/>
          </a:xfrm>
          <a:prstGeom prst="rect">
            <a:avLst/>
          </a:prstGeom>
          <a:noFill/>
          <a:ln/>
        </p:spPr>
        <p:txBody>
          <a:bodyPr wrap="square" lIns="0" tIns="0" rIns="0" bIns="0" rtlCol="0" anchor="ctr"/>
          <a:lstStyle/>
          <a:p>
            <a:pPr indent="0" marL="0">
              <a:buNone/>
            </a:pPr>
            <a:r>
              <a:rPr lang="en-US" sz="6000" b="1" dirty="0">
                <a:solidFill>
                  <a:schemeClr val="accent1"/>
                </a:solidFill>
              </a:rPr>
              <a:t>1</a:t>
            </a:r>
            <a:endParaRPr lang="en-US" sz="6000" dirty="0"/>
          </a:p>
        </p:txBody>
      </p:sp>
      <p:sp>
        <p:nvSpPr>
          <p:cNvPr id="8" name="Text 6"/>
          <p:cNvSpPr txBox="1"/>
          <p:nvPr/>
        </p:nvSpPr>
        <p:spPr>
          <a:xfrm>
            <a:off x="3657600" y="2560320"/>
            <a:ext cx="2148840" cy="640080"/>
          </a:xfrm>
          <a:prstGeom prst="rect">
            <a:avLst/>
          </a:prstGeom>
          <a:noFill/>
          <a:ln/>
        </p:spPr>
        <p:txBody>
          <a:bodyPr wrap="square" lIns="0" tIns="0" rIns="0" bIns="0" rtlCol="0" anchor="t"/>
          <a:lstStyle/>
          <a:p>
            <a:pPr indent="0" marL="0">
              <a:buNone/>
            </a:pPr>
            <a:r>
              <a:rPr lang="en-US" sz="1400" dirty="0">
                <a:solidFill>
                  <a:srgbClr val="C6C6C6"/>
                </a:solidFill>
              </a:rPr>
              <a:t>HTML architecture plan, approved</a:t>
            </a:r>
            <a:endParaRPr lang="en-US" sz="1400" dirty="0"/>
          </a:p>
        </p:txBody>
      </p:sp>
      <p:sp>
        <p:nvSpPr>
          <p:cNvPr id="9" name="fact 3"/>
          <p:cNvSpPr/>
          <p:nvPr/>
        </p:nvSpPr>
        <p:spPr>
          <a:xfrm>
            <a:off x="6217920" y="1463040"/>
            <a:ext cx="2606040" cy="1828800"/>
          </a:xfrm>
          <a:prstGeom prst="roundRect">
            <a:avLst>
              <a:gd name="adj" fmla="val 7500"/>
            </a:avLst>
          </a:prstGeom>
          <a:solidFill>
            <a:srgbClr val="262626"/>
          </a:solidFill>
          <a:ln/>
        </p:spPr>
      </p:sp>
      <p:sp>
        <p:nvSpPr>
          <p:cNvPr id="10" name="Text 8"/>
          <p:cNvSpPr txBox="1"/>
          <p:nvPr/>
        </p:nvSpPr>
        <p:spPr>
          <a:xfrm>
            <a:off x="6492240" y="1600200"/>
            <a:ext cx="2103120" cy="914400"/>
          </a:xfrm>
          <a:prstGeom prst="rect">
            <a:avLst/>
          </a:prstGeom>
          <a:noFill/>
          <a:ln/>
        </p:spPr>
        <p:txBody>
          <a:bodyPr wrap="square" lIns="0" tIns="0" rIns="0" bIns="0" rtlCol="0" anchor="ctr"/>
          <a:lstStyle/>
          <a:p>
            <a:pPr indent="0" marL="0">
              <a:buNone/>
            </a:pPr>
            <a:r>
              <a:rPr lang="en-US" sz="6000" b="1" dirty="0">
                <a:solidFill>
                  <a:schemeClr val="accent1"/>
                </a:solidFill>
              </a:rPr>
              <a:t>11</a:t>
            </a:r>
            <a:endParaRPr lang="en-US" sz="6000" dirty="0"/>
          </a:p>
        </p:txBody>
      </p:sp>
      <p:sp>
        <p:nvSpPr>
          <p:cNvPr id="11" name="Text 9"/>
          <p:cNvSpPr txBox="1"/>
          <p:nvPr/>
        </p:nvSpPr>
        <p:spPr>
          <a:xfrm>
            <a:off x="6492240" y="2560320"/>
            <a:ext cx="2148840" cy="640080"/>
          </a:xfrm>
          <a:prstGeom prst="rect">
            <a:avLst/>
          </a:prstGeom>
          <a:noFill/>
          <a:ln/>
        </p:spPr>
        <p:txBody>
          <a:bodyPr wrap="square" lIns="0" tIns="0" rIns="0" bIns="0" rtlCol="0" anchor="t"/>
          <a:lstStyle/>
          <a:p>
            <a:pPr indent="0" marL="0">
              <a:buNone/>
            </a:pPr>
            <a:r>
              <a:rPr lang="en-US" sz="1400" dirty="0">
                <a:solidFill>
                  <a:srgbClr val="C6C6C6"/>
                </a:solidFill>
              </a:rPr>
              <a:t>scaffolded sub-tasks, each gated</a:t>
            </a:r>
            <a:endParaRPr lang="en-US" sz="1400" dirty="0"/>
          </a:p>
        </p:txBody>
      </p:sp>
      <p:sp>
        <p:nvSpPr>
          <p:cNvPr id="12" name="fact 4"/>
          <p:cNvSpPr/>
          <p:nvPr/>
        </p:nvSpPr>
        <p:spPr>
          <a:xfrm>
            <a:off x="9052560" y="1463040"/>
            <a:ext cx="2606040" cy="1828800"/>
          </a:xfrm>
          <a:prstGeom prst="roundRect">
            <a:avLst>
              <a:gd name="adj" fmla="val 7500"/>
            </a:avLst>
          </a:prstGeom>
          <a:solidFill>
            <a:srgbClr val="262626"/>
          </a:solidFill>
          <a:ln/>
        </p:spPr>
      </p:sp>
      <p:sp>
        <p:nvSpPr>
          <p:cNvPr id="13" name="Text 11"/>
          <p:cNvSpPr txBox="1"/>
          <p:nvPr/>
        </p:nvSpPr>
        <p:spPr>
          <a:xfrm>
            <a:off x="9326880" y="1600200"/>
            <a:ext cx="2103120" cy="914400"/>
          </a:xfrm>
          <a:prstGeom prst="rect">
            <a:avLst/>
          </a:prstGeom>
          <a:noFill/>
          <a:ln/>
        </p:spPr>
        <p:txBody>
          <a:bodyPr wrap="square" lIns="0" tIns="0" rIns="0" bIns="0" rtlCol="0" anchor="ctr"/>
          <a:lstStyle/>
          <a:p>
            <a:pPr indent="0" marL="0">
              <a:buNone/>
            </a:pPr>
            <a:r>
              <a:rPr lang="en-US" sz="6000" b="1" dirty="0">
                <a:solidFill>
                  <a:schemeClr val="accent2"/>
                </a:solidFill>
              </a:rPr>
              <a:t>0</a:t>
            </a:r>
            <a:endParaRPr lang="en-US" sz="6000" dirty="0"/>
          </a:p>
        </p:txBody>
      </p:sp>
      <p:sp>
        <p:nvSpPr>
          <p:cNvPr id="14" name="Text 12"/>
          <p:cNvSpPr txBox="1"/>
          <p:nvPr/>
        </p:nvSpPr>
        <p:spPr>
          <a:xfrm>
            <a:off x="9326880" y="2560320"/>
            <a:ext cx="2148840" cy="640080"/>
          </a:xfrm>
          <a:prstGeom prst="rect">
            <a:avLst/>
          </a:prstGeom>
          <a:noFill/>
          <a:ln/>
        </p:spPr>
        <p:txBody>
          <a:bodyPr wrap="square" lIns="0" tIns="0" rIns="0" bIns="0" rtlCol="0" anchor="t"/>
          <a:lstStyle/>
          <a:p>
            <a:pPr indent="0" marL="0">
              <a:buNone/>
            </a:pPr>
            <a:r>
              <a:rPr lang="en-US" sz="1400" dirty="0">
                <a:solidFill>
                  <a:srgbClr val="C6C6C6"/>
                </a:solidFill>
              </a:rPr>
              <a:t>lines of handwritten boilerplate</a:t>
            </a:r>
            <a:endParaRPr lang="en-US" sz="1400" dirty="0"/>
          </a:p>
        </p:txBody>
      </p:sp>
      <p:sp>
        <p:nvSpPr>
          <p:cNvPr id="15" name="show cue circle"/>
          <p:cNvSpPr/>
          <p:nvPr/>
        </p:nvSpPr>
        <p:spPr>
          <a:xfrm>
            <a:off x="548640" y="3749040"/>
            <a:ext cx="548640" cy="548640"/>
          </a:xfrm>
          <a:prstGeom prst="ellipse">
            <a:avLst/>
          </a:prstGeom>
          <a:solidFill>
            <a:srgbClr val="08BDBA"/>
          </a:solidFill>
          <a:ln/>
        </p:spPr>
      </p:sp>
      <p:pic>
        <p:nvPicPr>
          <p:cNvPr id="16" name="show cue icon" descr="preencoded.png">    </p:cNvPr>
          <p:cNvPicPr>
            <a:picLocks noChangeAspect="1"/>
          </p:cNvPicPr>
          <p:nvPr/>
        </p:nvPicPr>
        <p:blipFill>
          <a:blip r:embed="rId1"/>
          <a:stretch>
            <a:fillRect/>
          </a:stretch>
        </p:blipFill>
        <p:spPr>
          <a:xfrm>
            <a:off x="685800" y="3886200"/>
            <a:ext cx="274320" cy="274320"/>
          </a:xfrm>
          <a:prstGeom prst="rect">
            <a:avLst/>
          </a:prstGeom>
        </p:spPr>
      </p:pic>
      <p:sp>
        <p:nvSpPr>
          <p:cNvPr id="17" name="Text 14"/>
          <p:cNvSpPr txBox="1"/>
          <p:nvPr/>
        </p:nvSpPr>
        <p:spPr>
          <a:xfrm>
            <a:off x="1234440" y="3749040"/>
            <a:ext cx="3657600" cy="548640"/>
          </a:xfrm>
          <a:prstGeom prst="rect">
            <a:avLst/>
          </a:prstGeom>
          <a:noFill/>
          <a:ln/>
        </p:spPr>
        <p:txBody>
          <a:bodyPr wrap="square" lIns="0" tIns="0" rIns="0" bIns="0" rtlCol="0" anchor="ctr"/>
          <a:lstStyle/>
          <a:p>
            <a:pPr indent="0" marL="0">
              <a:buNone/>
            </a:pPr>
            <a:r>
              <a:rPr lang="en-US" sz="1400" b="1" dirty="0">
                <a:solidFill>
                  <a:schemeClr val="accent2"/>
                </a:solidFill>
              </a:rPr>
              <a:t>SHOW IN BOB IDE</a:t>
            </a:r>
            <a:endParaRPr lang="en-US" sz="1400" dirty="0"/>
          </a:p>
        </p:txBody>
      </p:sp>
      <p:sp>
        <p:nvSpPr>
          <p:cNvPr id="18" name="Text 15"/>
          <p:cNvSpPr txBox="1"/>
          <p:nvPr/>
        </p:nvSpPr>
        <p:spPr>
          <a:xfrm>
            <a:off x="548640" y="4434840"/>
            <a:ext cx="548640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FFFFF"/>
                </a:solidFill>
              </a:rPr>
              <a:t>Explorer on finance-app/src/: services/, hooks/, components/, views/</a:t>
            </a:r>
            <a:endParaRPr lang="en-US" sz="1600" dirty="0"/>
          </a:p>
          <a:p>
            <a:pPr marL="342900" indent="-342900">
              <a:spcAft>
                <a:spcPts val="600"/>
              </a:spcAft>
              <a:buSzPct val="100000"/>
              <a:buChar char="•"/>
            </a:pPr>
            <a:r>
              <a:rPr lang="en-US" sz="1600" dirty="0">
                <a:solidFill>
                  <a:srgbClr val="FFFFFF"/>
                </a:solidFill>
              </a:rPr>
              <a:t>Running app at localhost:5173: Current day view, tabs wired</a:t>
            </a:r>
            <a:endParaRPr lang="en-US" sz="1600" dirty="0"/>
          </a:p>
          <a:p>
            <a:pPr marL="342900" indent="-342900">
              <a:spcAft>
                <a:spcPts val="600"/>
              </a:spcAft>
              <a:buSzPct val="100000"/>
              <a:buChar char="•"/>
            </a:pPr>
            <a:r>
              <a:rPr lang="en-US" sz="1600" dirty="0">
                <a:solidFill>
                  <a:srgbClr val="FFFFFF"/>
                </a:solidFill>
              </a:rPr>
              <a:t>Mock mode: runs offline, no external API in dev or CI</a:t>
            </a:r>
            <a:endParaRPr lang="en-US" sz="1600" dirty="0"/>
          </a:p>
        </p:txBody>
      </p:sp>
      <p:sp>
        <p:nvSpPr>
          <p:cNvPr id="19" name="say card"/>
          <p:cNvSpPr/>
          <p:nvPr/>
        </p:nvSpPr>
        <p:spPr>
          <a:xfrm>
            <a:off x="6492240" y="3749040"/>
            <a:ext cx="5120640" cy="2240280"/>
          </a:xfrm>
          <a:prstGeom prst="roundRect">
            <a:avLst>
              <a:gd name="adj" fmla="val 6122"/>
            </a:avLst>
          </a:prstGeom>
          <a:solidFill>
            <a:srgbClr val="262626"/>
          </a:solidFill>
          <a:ln w="19050">
            <a:solidFill>
              <a:srgbClr val="0F62FE"/>
            </a:solidFill>
            <a:prstDash val="solid"/>
          </a:ln>
        </p:spPr>
      </p:sp>
      <p:sp>
        <p:nvSpPr>
          <p:cNvPr id="20" name="Text 17"/>
          <p:cNvSpPr txBox="1"/>
          <p:nvPr/>
        </p:nvSpPr>
        <p:spPr>
          <a:xfrm>
            <a:off x="6766560" y="3931920"/>
            <a:ext cx="4572000" cy="1920240"/>
          </a:xfrm>
          <a:prstGeom prst="rect">
            <a:avLst/>
          </a:prstGeom>
          <a:noFill/>
          <a:ln/>
        </p:spPr>
        <p:txBody>
          <a:bodyPr wrap="square" lIns="0" tIns="0" rIns="0" bIns="0" rtlCol="0" anchor="t"/>
          <a:lstStyle/>
          <a:p>
            <a:pPr indent="0" marL="0">
              <a:spcAft>
                <a:spcPts val="600"/>
              </a:spcAft>
              <a:buNone/>
            </a:pPr>
            <a:r>
              <a:rPr lang="en-US" sz="1400" b="1" dirty="0">
                <a:solidFill>
                  <a:srgbClr val="0F62FE"/>
                </a:solidFill>
              </a:rPr>
              <a:t>SAY</a:t>
            </a:r>
            <a:endParaRPr lang="en-US" sz="1400" dirty="0"/>
          </a:p>
          <a:p>
            <a:pPr indent="0" marL="0">
              <a:spcAft>
                <a:spcPts val="600"/>
              </a:spcAft>
              <a:buNone/>
            </a:pPr>
            <a:r>
              <a:rPr lang="en-US" sz="1600" i="1" dirty="0">
                <a:solidFill>
                  <a:srgbClr val="FFFFFF"/>
                </a:solidFill>
              </a:rPr>
              <a:t>"Every file traces back to a decision in the plan. Services isolated, hooks own data fetching, views are props-in, render-out. That came from the plan Bob wrote before any code."</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Part 2 live: evolve the app from a GitHub issue</a:t>
            </a:r>
            <a:endParaRPr lang="en-US" sz="3600" dirty="0"/>
          </a:p>
        </p:txBody>
      </p:sp>
      <p:sp>
        <p:nvSpPr>
          <p:cNvPr id="3" name="prompt box"/>
          <p:cNvSpPr/>
          <p:nvPr/>
        </p:nvSpPr>
        <p:spPr>
          <a:xfrm>
            <a:off x="548640" y="1371600"/>
            <a:ext cx="11064240" cy="960120"/>
          </a:xfrm>
          <a:prstGeom prst="roundRect">
            <a:avLst>
              <a:gd name="adj" fmla="val 11429"/>
            </a:avLst>
          </a:prstGeom>
          <a:solidFill>
            <a:srgbClr val="262626"/>
          </a:solidFill>
          <a:ln w="12700">
            <a:solidFill>
              <a:srgbClr val="08BDBA"/>
            </a:solidFill>
            <a:prstDash val="solid"/>
          </a:ln>
        </p:spPr>
      </p:sp>
      <p:sp>
        <p:nvSpPr>
          <p:cNvPr id="4" name="Text 2"/>
          <p:cNvSpPr txBox="1"/>
          <p:nvPr/>
        </p:nvSpPr>
        <p:spPr>
          <a:xfrm>
            <a:off x="777240" y="1463040"/>
            <a:ext cx="1828800" cy="274320"/>
          </a:xfrm>
          <a:prstGeom prst="rect">
            <a:avLst/>
          </a:prstGeom>
          <a:noFill/>
          <a:ln/>
        </p:spPr>
        <p:txBody>
          <a:bodyPr wrap="square" lIns="0" tIns="0" rIns="0" bIns="0" rtlCol="0" anchor="ctr"/>
          <a:lstStyle/>
          <a:p>
            <a:pPr indent="0" marL="0">
              <a:buNone/>
            </a:pPr>
            <a:r>
              <a:rPr lang="en-US" sz="1100" b="1" dirty="0">
                <a:solidFill>
                  <a:schemeClr val="accent2"/>
                </a:solidFill>
              </a:rPr>
              <a:t>PROMPT</a:t>
            </a:r>
            <a:endParaRPr lang="en-US" sz="1100" dirty="0"/>
          </a:p>
        </p:txBody>
      </p:sp>
      <p:sp>
        <p:nvSpPr>
          <p:cNvPr id="5" name="Text 3"/>
          <p:cNvSpPr txBox="1"/>
          <p:nvPr/>
        </p:nvSpPr>
        <p:spPr>
          <a:xfrm>
            <a:off x="777240" y="1737360"/>
            <a:ext cx="10607040" cy="54864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Read issue #1 from this repository, analyze the scope of the requested feature, and propose an implementation plan before writing any code.</a:t>
            </a:r>
            <a:endParaRPr lang="en-US" sz="1400" dirty="0"/>
          </a:p>
        </p:txBody>
      </p:sp>
      <p:sp>
        <p:nvSpPr>
          <p:cNvPr id="6" name="live step a"/>
          <p:cNvSpPr/>
          <p:nvPr/>
        </p:nvSpPr>
        <p:spPr>
          <a:xfrm>
            <a:off x="548640" y="2606040"/>
            <a:ext cx="3474720" cy="1600200"/>
          </a:xfrm>
          <a:prstGeom prst="roundRect">
            <a:avLst>
              <a:gd name="adj" fmla="val 6857"/>
            </a:avLst>
          </a:prstGeom>
          <a:solidFill>
            <a:srgbClr val="262626"/>
          </a:solidFill>
          <a:ln/>
        </p:spPr>
      </p:sp>
      <p:sp>
        <p:nvSpPr>
          <p:cNvPr id="7" name="Shape 5"/>
          <p:cNvSpPr/>
          <p:nvPr/>
        </p:nvSpPr>
        <p:spPr>
          <a:xfrm>
            <a:off x="777240" y="2807208"/>
            <a:ext cx="457200" cy="457200"/>
          </a:xfrm>
          <a:prstGeom prst="ellipse">
            <a:avLst/>
          </a:prstGeom>
          <a:solidFill>
            <a:schemeClr val="accent1"/>
          </a:solidFill>
          <a:ln/>
        </p:spPr>
      </p:sp>
      <p:sp>
        <p:nvSpPr>
          <p:cNvPr id="8" name="Text 6"/>
          <p:cNvSpPr txBox="1"/>
          <p:nvPr/>
        </p:nvSpPr>
        <p:spPr>
          <a:xfrm>
            <a:off x="777240" y="2807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9" name="Text 7"/>
          <p:cNvSpPr txBox="1"/>
          <p:nvPr/>
        </p:nvSpPr>
        <p:spPr>
          <a:xfrm>
            <a:off x="1371600" y="2807208"/>
            <a:ext cx="1920240" cy="457200"/>
          </a:xfrm>
          <a:prstGeom prst="rect">
            <a:avLst/>
          </a:prstGeom>
          <a:noFill/>
          <a:ln/>
        </p:spPr>
        <p:txBody>
          <a:bodyPr wrap="square" lIns="0" tIns="0" rIns="0" bIns="0" rtlCol="0" anchor="ctr"/>
          <a:lstStyle/>
          <a:p>
            <a:pPr indent="0" marL="0">
              <a:buNone/>
            </a:pPr>
            <a:r>
              <a:rPr lang="en-US" sz="1600" b="1" dirty="0">
                <a:solidFill>
                  <a:srgbClr val="FFFFFF"/>
                </a:solidFill>
              </a:rPr>
              <a:t>Show the issue</a:t>
            </a:r>
            <a:endParaRPr lang="en-US" sz="1600" dirty="0"/>
          </a:p>
        </p:txBody>
      </p:sp>
      <p:sp>
        <p:nvSpPr>
          <p:cNvPr id="10" name="Text 8"/>
          <p:cNvSpPr txBox="1"/>
          <p:nvPr/>
        </p:nvSpPr>
        <p:spPr>
          <a:xfrm>
            <a:off x="3246120" y="2807208"/>
            <a:ext cx="548640" cy="457200"/>
          </a:xfrm>
          <a:prstGeom prst="rect">
            <a:avLst/>
          </a:prstGeom>
          <a:noFill/>
          <a:ln/>
        </p:spPr>
        <p:txBody>
          <a:bodyPr wrap="square" lIns="0" tIns="0" rIns="0" bIns="0" rtlCol="0" anchor="ctr"/>
          <a:lstStyle/>
          <a:p>
            <a:pPr algn="r" indent="0" marL="0">
              <a:buNone/>
            </a:pPr>
            <a:r>
              <a:rPr lang="en-US" sz="1200" dirty="0">
                <a:solidFill>
                  <a:schemeClr val="accent2"/>
                </a:solidFill>
              </a:rPr>
              <a:t>0:30</a:t>
            </a:r>
            <a:endParaRPr lang="en-US" sz="1200" dirty="0"/>
          </a:p>
        </p:txBody>
      </p:sp>
      <p:sp>
        <p:nvSpPr>
          <p:cNvPr id="11" name="Text 9"/>
          <p:cNvSpPr txBox="1"/>
          <p:nvPr/>
        </p:nvSpPr>
        <p:spPr>
          <a:xfrm>
            <a:off x="777240" y="3383280"/>
            <a:ext cx="3063240" cy="731520"/>
          </a:xfrm>
          <a:prstGeom prst="rect">
            <a:avLst/>
          </a:prstGeom>
          <a:noFill/>
          <a:ln/>
        </p:spPr>
        <p:txBody>
          <a:bodyPr wrap="square" lIns="0" tIns="0" rIns="0" bIns="0" rtlCol="0" anchor="t"/>
          <a:lstStyle/>
          <a:p>
            <a:pPr indent="0" marL="0">
              <a:buNone/>
            </a:pPr>
            <a:r>
              <a:rPr lang="en-US" sz="1200" dirty="0">
                <a:solidFill>
                  <a:srgbClr val="C6C6C6"/>
                </a:solidFill>
              </a:rPr>
              <a:t>GitHub → Issues → #1 "Add a graph for a user selected company"</a:t>
            </a:r>
            <a:endParaRPr lang="en-US" sz="1200" dirty="0"/>
          </a:p>
        </p:txBody>
      </p:sp>
      <p:sp>
        <p:nvSpPr>
          <p:cNvPr id="12" name="live step b"/>
          <p:cNvSpPr/>
          <p:nvPr/>
        </p:nvSpPr>
        <p:spPr>
          <a:xfrm>
            <a:off x="4297680" y="2606040"/>
            <a:ext cx="3474720" cy="1600200"/>
          </a:xfrm>
          <a:prstGeom prst="roundRect">
            <a:avLst>
              <a:gd name="adj" fmla="val 6857"/>
            </a:avLst>
          </a:prstGeom>
          <a:solidFill>
            <a:srgbClr val="262626"/>
          </a:solidFill>
          <a:ln/>
        </p:spPr>
      </p:sp>
      <p:sp>
        <p:nvSpPr>
          <p:cNvPr id="13" name="Shape 11"/>
          <p:cNvSpPr/>
          <p:nvPr/>
        </p:nvSpPr>
        <p:spPr>
          <a:xfrm>
            <a:off x="4526280" y="2807208"/>
            <a:ext cx="457200" cy="457200"/>
          </a:xfrm>
          <a:prstGeom prst="ellipse">
            <a:avLst/>
          </a:prstGeom>
          <a:solidFill>
            <a:schemeClr val="accent1"/>
          </a:solidFill>
          <a:ln/>
        </p:spPr>
      </p:sp>
      <p:sp>
        <p:nvSpPr>
          <p:cNvPr id="14" name="Text 12"/>
          <p:cNvSpPr txBox="1"/>
          <p:nvPr/>
        </p:nvSpPr>
        <p:spPr>
          <a:xfrm>
            <a:off x="4526280" y="2807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5" name="Text 13"/>
          <p:cNvSpPr txBox="1"/>
          <p:nvPr/>
        </p:nvSpPr>
        <p:spPr>
          <a:xfrm>
            <a:off x="5120640" y="2807208"/>
            <a:ext cx="1920240" cy="457200"/>
          </a:xfrm>
          <a:prstGeom prst="rect">
            <a:avLst/>
          </a:prstGeom>
          <a:noFill/>
          <a:ln/>
        </p:spPr>
        <p:txBody>
          <a:bodyPr wrap="square" lIns="0" tIns="0" rIns="0" bIns="0" rtlCol="0" anchor="ctr"/>
          <a:lstStyle/>
          <a:p>
            <a:pPr indent="0" marL="0">
              <a:buNone/>
            </a:pPr>
            <a:r>
              <a:rPr lang="en-US" sz="1600" b="1" dirty="0">
                <a:solidFill>
                  <a:srgbClr val="FFFFFF"/>
                </a:solidFill>
              </a:rPr>
              <a:t>Bob reads &amp; plans</a:t>
            </a:r>
            <a:endParaRPr lang="en-US" sz="1600" dirty="0"/>
          </a:p>
        </p:txBody>
      </p:sp>
      <p:sp>
        <p:nvSpPr>
          <p:cNvPr id="16" name="Text 14"/>
          <p:cNvSpPr txBox="1"/>
          <p:nvPr/>
        </p:nvSpPr>
        <p:spPr>
          <a:xfrm>
            <a:off x="6995160" y="2807208"/>
            <a:ext cx="548640" cy="457200"/>
          </a:xfrm>
          <a:prstGeom prst="rect">
            <a:avLst/>
          </a:prstGeom>
          <a:noFill/>
          <a:ln/>
        </p:spPr>
        <p:txBody>
          <a:bodyPr wrap="square" lIns="0" tIns="0" rIns="0" bIns="0" rtlCol="0" anchor="ctr"/>
          <a:lstStyle/>
          <a:p>
            <a:pPr algn="r" indent="0" marL="0">
              <a:buNone/>
            </a:pPr>
            <a:r>
              <a:rPr lang="en-US" sz="1200" dirty="0">
                <a:solidFill>
                  <a:schemeClr val="accent2"/>
                </a:solidFill>
              </a:rPr>
              <a:t>1:00</a:t>
            </a:r>
            <a:endParaRPr lang="en-US" sz="1200" dirty="0"/>
          </a:p>
        </p:txBody>
      </p:sp>
      <p:sp>
        <p:nvSpPr>
          <p:cNvPr id="17" name="Text 15"/>
          <p:cNvSpPr txBox="1"/>
          <p:nvPr/>
        </p:nvSpPr>
        <p:spPr>
          <a:xfrm>
            <a:off x="4526280" y="3383280"/>
            <a:ext cx="3063240" cy="731520"/>
          </a:xfrm>
          <a:prstGeom prst="rect">
            <a:avLst/>
          </a:prstGeom>
          <a:noFill/>
          <a:ln/>
        </p:spPr>
        <p:txBody>
          <a:bodyPr wrap="square" lIns="0" tIns="0" rIns="0" bIns="0" rtlCol="0" anchor="t"/>
          <a:lstStyle/>
          <a:p>
            <a:pPr indent="0" marL="0">
              <a:buNone/>
            </a:pPr>
            <a:r>
              <a:rPr lang="en-US" sz="1200" dirty="0">
                <a:solidFill>
                  <a:srgbClr val="C6C6C6"/>
                </a:solidFill>
              </a:rPr>
              <a:t>Paste prompt in Agent mode; point out sub-tasks. "This is the approval gate."</a:t>
            </a:r>
            <a:endParaRPr lang="en-US" sz="1200" dirty="0"/>
          </a:p>
        </p:txBody>
      </p:sp>
      <p:sp>
        <p:nvSpPr>
          <p:cNvPr id="18" name="live step c"/>
          <p:cNvSpPr/>
          <p:nvPr/>
        </p:nvSpPr>
        <p:spPr>
          <a:xfrm>
            <a:off x="8046720" y="2606040"/>
            <a:ext cx="3474720" cy="1600200"/>
          </a:xfrm>
          <a:prstGeom prst="roundRect">
            <a:avLst>
              <a:gd name="adj" fmla="val 6857"/>
            </a:avLst>
          </a:prstGeom>
          <a:solidFill>
            <a:srgbClr val="262626"/>
          </a:solidFill>
          <a:ln/>
        </p:spPr>
      </p:sp>
      <p:sp>
        <p:nvSpPr>
          <p:cNvPr id="19" name="Shape 17"/>
          <p:cNvSpPr/>
          <p:nvPr/>
        </p:nvSpPr>
        <p:spPr>
          <a:xfrm>
            <a:off x="8275320" y="2807208"/>
            <a:ext cx="457200" cy="457200"/>
          </a:xfrm>
          <a:prstGeom prst="ellipse">
            <a:avLst/>
          </a:prstGeom>
          <a:solidFill>
            <a:schemeClr val="accent1"/>
          </a:solidFill>
          <a:ln/>
        </p:spPr>
      </p:sp>
      <p:sp>
        <p:nvSpPr>
          <p:cNvPr id="20" name="Text 18"/>
          <p:cNvSpPr txBox="1"/>
          <p:nvPr/>
        </p:nvSpPr>
        <p:spPr>
          <a:xfrm>
            <a:off x="8275320" y="2807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21" name="Text 19"/>
          <p:cNvSpPr txBox="1"/>
          <p:nvPr/>
        </p:nvSpPr>
        <p:spPr>
          <a:xfrm>
            <a:off x="8869680" y="2807208"/>
            <a:ext cx="1920240" cy="457200"/>
          </a:xfrm>
          <a:prstGeom prst="rect">
            <a:avLst/>
          </a:prstGeom>
          <a:noFill/>
          <a:ln/>
        </p:spPr>
        <p:txBody>
          <a:bodyPr wrap="square" lIns="0" tIns="0" rIns="0" bIns="0" rtlCol="0" anchor="ctr"/>
          <a:lstStyle/>
          <a:p>
            <a:pPr indent="0" marL="0">
              <a:buNone/>
            </a:pPr>
            <a:r>
              <a:rPr lang="en-US" sz="1600" b="1" dirty="0">
                <a:solidFill>
                  <a:srgbClr val="FFFFFF"/>
                </a:solidFill>
              </a:rPr>
              <a:t>Approve &amp; build</a:t>
            </a:r>
            <a:endParaRPr lang="en-US" sz="1600" dirty="0"/>
          </a:p>
        </p:txBody>
      </p:sp>
      <p:sp>
        <p:nvSpPr>
          <p:cNvPr id="22" name="Text 20"/>
          <p:cNvSpPr txBox="1"/>
          <p:nvPr/>
        </p:nvSpPr>
        <p:spPr>
          <a:xfrm>
            <a:off x="10744200" y="2807208"/>
            <a:ext cx="548640" cy="457200"/>
          </a:xfrm>
          <a:prstGeom prst="rect">
            <a:avLst/>
          </a:prstGeom>
          <a:noFill/>
          <a:ln/>
        </p:spPr>
        <p:txBody>
          <a:bodyPr wrap="square" lIns="0" tIns="0" rIns="0" bIns="0" rtlCol="0" anchor="ctr"/>
          <a:lstStyle/>
          <a:p>
            <a:pPr algn="r" indent="0" marL="0">
              <a:buNone/>
            </a:pPr>
            <a:r>
              <a:rPr lang="en-US" sz="1200" dirty="0">
                <a:solidFill>
                  <a:schemeClr val="accent2"/>
                </a:solidFill>
              </a:rPr>
              <a:t>1:30</a:t>
            </a:r>
            <a:endParaRPr lang="en-US" sz="1200" dirty="0"/>
          </a:p>
        </p:txBody>
      </p:sp>
      <p:sp>
        <p:nvSpPr>
          <p:cNvPr id="23" name="Text 21"/>
          <p:cNvSpPr txBox="1"/>
          <p:nvPr/>
        </p:nvSpPr>
        <p:spPr>
          <a:xfrm>
            <a:off x="8275320" y="3383280"/>
            <a:ext cx="3063240" cy="731520"/>
          </a:xfrm>
          <a:prstGeom prst="rect">
            <a:avLst/>
          </a:prstGeom>
          <a:noFill/>
          <a:ln/>
        </p:spPr>
        <p:txBody>
          <a:bodyPr wrap="square" lIns="0" tIns="0" rIns="0" bIns="0" rtlCol="0" anchor="t"/>
          <a:lstStyle/>
          <a:p>
            <a:pPr indent="0" marL="0">
              <a:buNone/>
            </a:pPr>
            <a:r>
              <a:rPr lang="en-US" sz="1200" dirty="0">
                <a:solidFill>
                  <a:srgbClr val="C6C6C6"/>
                </a:solidFill>
              </a:rPr>
              <a:t>Approve todo; Bob reads files before editing. Existing views untouched</a:t>
            </a:r>
            <a:endParaRPr lang="en-US" sz="1200" dirty="0"/>
          </a:p>
        </p:txBody>
      </p:sp>
      <p:sp>
        <p:nvSpPr>
          <p:cNvPr id="24" name="live step d"/>
          <p:cNvSpPr/>
          <p:nvPr/>
        </p:nvSpPr>
        <p:spPr>
          <a:xfrm>
            <a:off x="548640" y="4389120"/>
            <a:ext cx="3474720" cy="1600200"/>
          </a:xfrm>
          <a:prstGeom prst="roundRect">
            <a:avLst>
              <a:gd name="adj" fmla="val 6857"/>
            </a:avLst>
          </a:prstGeom>
          <a:solidFill>
            <a:srgbClr val="262626"/>
          </a:solidFill>
          <a:ln/>
        </p:spPr>
      </p:sp>
      <p:sp>
        <p:nvSpPr>
          <p:cNvPr id="25" name="Shape 23"/>
          <p:cNvSpPr/>
          <p:nvPr/>
        </p:nvSpPr>
        <p:spPr>
          <a:xfrm>
            <a:off x="777240" y="4590288"/>
            <a:ext cx="457200" cy="457200"/>
          </a:xfrm>
          <a:prstGeom prst="ellipse">
            <a:avLst/>
          </a:prstGeom>
          <a:solidFill>
            <a:schemeClr val="accent1"/>
          </a:solidFill>
          <a:ln/>
        </p:spPr>
      </p:sp>
      <p:sp>
        <p:nvSpPr>
          <p:cNvPr id="26" name="Text 24"/>
          <p:cNvSpPr txBox="1"/>
          <p:nvPr/>
        </p:nvSpPr>
        <p:spPr>
          <a:xfrm>
            <a:off x="77724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27" name="Text 25"/>
          <p:cNvSpPr txBox="1"/>
          <p:nvPr/>
        </p:nvSpPr>
        <p:spPr>
          <a:xfrm>
            <a:off x="1371600" y="4590288"/>
            <a:ext cx="1920240" cy="457200"/>
          </a:xfrm>
          <a:prstGeom prst="rect">
            <a:avLst/>
          </a:prstGeom>
          <a:noFill/>
          <a:ln/>
        </p:spPr>
        <p:txBody>
          <a:bodyPr wrap="square" lIns="0" tIns="0" rIns="0" bIns="0" rtlCol="0" anchor="ctr"/>
          <a:lstStyle/>
          <a:p>
            <a:pPr indent="0" marL="0">
              <a:buNone/>
            </a:pPr>
            <a:r>
              <a:rPr lang="en-US" sz="1600" b="1" dirty="0">
                <a:solidFill>
                  <a:srgbClr val="FFFFFF"/>
                </a:solidFill>
              </a:rPr>
              <a:t>Validate locally</a:t>
            </a:r>
            <a:endParaRPr lang="en-US" sz="1600" dirty="0"/>
          </a:p>
        </p:txBody>
      </p:sp>
      <p:sp>
        <p:nvSpPr>
          <p:cNvPr id="28" name="Text 26"/>
          <p:cNvSpPr txBox="1"/>
          <p:nvPr/>
        </p:nvSpPr>
        <p:spPr>
          <a:xfrm>
            <a:off x="3246120" y="4590288"/>
            <a:ext cx="548640" cy="457200"/>
          </a:xfrm>
          <a:prstGeom prst="rect">
            <a:avLst/>
          </a:prstGeom>
          <a:noFill/>
          <a:ln/>
        </p:spPr>
        <p:txBody>
          <a:bodyPr wrap="square" lIns="0" tIns="0" rIns="0" bIns="0" rtlCol="0" anchor="ctr"/>
          <a:lstStyle/>
          <a:p>
            <a:pPr algn="r" indent="0" marL="0">
              <a:buNone/>
            </a:pPr>
            <a:r>
              <a:rPr lang="en-US" sz="1200" dirty="0">
                <a:solidFill>
                  <a:schemeClr val="accent2"/>
                </a:solidFill>
              </a:rPr>
              <a:t>0:45</a:t>
            </a:r>
            <a:endParaRPr lang="en-US" sz="1200" dirty="0"/>
          </a:p>
        </p:txBody>
      </p:sp>
      <p:sp>
        <p:nvSpPr>
          <p:cNvPr id="29" name="Text 27"/>
          <p:cNvSpPr txBox="1"/>
          <p:nvPr/>
        </p:nvSpPr>
        <p:spPr>
          <a:xfrm>
            <a:off x="777240" y="5166360"/>
            <a:ext cx="3063240" cy="731520"/>
          </a:xfrm>
          <a:prstGeom prst="rect">
            <a:avLst/>
          </a:prstGeom>
          <a:noFill/>
          <a:ln/>
        </p:spPr>
        <p:txBody>
          <a:bodyPr wrap="square" lIns="0" tIns="0" rIns="0" bIns="0" rtlCol="0" anchor="t"/>
          <a:lstStyle/>
          <a:p>
            <a:pPr indent="0" marL="0">
              <a:buNone/>
            </a:pPr>
            <a:r>
              <a:rPr lang="en-US" sz="1200" dirty="0">
                <a:solidFill>
                  <a:srgbClr val="C6C6C6"/>
                </a:solidFill>
              </a:rPr>
              <a:t>cd finance-app &amp;&amp; npm run validate: 0 lint errors, tests pass, clean build</a:t>
            </a:r>
            <a:endParaRPr lang="en-US" sz="1200" dirty="0"/>
          </a:p>
        </p:txBody>
      </p:sp>
      <p:sp>
        <p:nvSpPr>
          <p:cNvPr id="30" name="live step e"/>
          <p:cNvSpPr/>
          <p:nvPr/>
        </p:nvSpPr>
        <p:spPr>
          <a:xfrm>
            <a:off x="4297680" y="4389120"/>
            <a:ext cx="3474720" cy="1600200"/>
          </a:xfrm>
          <a:prstGeom prst="roundRect">
            <a:avLst>
              <a:gd name="adj" fmla="val 6857"/>
            </a:avLst>
          </a:prstGeom>
          <a:solidFill>
            <a:srgbClr val="262626"/>
          </a:solidFill>
          <a:ln/>
        </p:spPr>
      </p:sp>
      <p:sp>
        <p:nvSpPr>
          <p:cNvPr id="31" name="Shape 29"/>
          <p:cNvSpPr/>
          <p:nvPr/>
        </p:nvSpPr>
        <p:spPr>
          <a:xfrm>
            <a:off x="4526280" y="4590288"/>
            <a:ext cx="457200" cy="457200"/>
          </a:xfrm>
          <a:prstGeom prst="ellipse">
            <a:avLst/>
          </a:prstGeom>
          <a:solidFill>
            <a:schemeClr val="accent1"/>
          </a:solidFill>
          <a:ln/>
        </p:spPr>
      </p:sp>
      <p:sp>
        <p:nvSpPr>
          <p:cNvPr id="32" name="Text 30"/>
          <p:cNvSpPr txBox="1"/>
          <p:nvPr/>
        </p:nvSpPr>
        <p:spPr>
          <a:xfrm>
            <a:off x="452628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33" name="Text 31"/>
          <p:cNvSpPr txBox="1"/>
          <p:nvPr/>
        </p:nvSpPr>
        <p:spPr>
          <a:xfrm>
            <a:off x="5120640" y="4590288"/>
            <a:ext cx="1920240" cy="457200"/>
          </a:xfrm>
          <a:prstGeom prst="rect">
            <a:avLst/>
          </a:prstGeom>
          <a:noFill/>
          <a:ln/>
        </p:spPr>
        <p:txBody>
          <a:bodyPr wrap="square" lIns="0" tIns="0" rIns="0" bIns="0" rtlCol="0" anchor="ctr"/>
          <a:lstStyle/>
          <a:p>
            <a:pPr indent="0" marL="0">
              <a:buNone/>
            </a:pPr>
            <a:r>
              <a:rPr lang="en-US" sz="1600" b="1" dirty="0">
                <a:solidFill>
                  <a:srgbClr val="FFFFFF"/>
                </a:solidFill>
              </a:rPr>
              <a:t>Commit, push, CI</a:t>
            </a:r>
            <a:endParaRPr lang="en-US" sz="1600" dirty="0"/>
          </a:p>
        </p:txBody>
      </p:sp>
      <p:sp>
        <p:nvSpPr>
          <p:cNvPr id="34" name="Text 32"/>
          <p:cNvSpPr txBox="1"/>
          <p:nvPr/>
        </p:nvSpPr>
        <p:spPr>
          <a:xfrm>
            <a:off x="6995160" y="4590288"/>
            <a:ext cx="548640" cy="457200"/>
          </a:xfrm>
          <a:prstGeom prst="rect">
            <a:avLst/>
          </a:prstGeom>
          <a:noFill/>
          <a:ln/>
        </p:spPr>
        <p:txBody>
          <a:bodyPr wrap="square" lIns="0" tIns="0" rIns="0" bIns="0" rtlCol="0" anchor="ctr"/>
          <a:lstStyle/>
          <a:p>
            <a:pPr algn="r" indent="0" marL="0">
              <a:buNone/>
            </a:pPr>
            <a:r>
              <a:rPr lang="en-US" sz="1200" dirty="0">
                <a:solidFill>
                  <a:schemeClr val="accent2"/>
                </a:solidFill>
              </a:rPr>
              <a:t>1:00</a:t>
            </a:r>
            <a:endParaRPr lang="en-US" sz="1200" dirty="0"/>
          </a:p>
        </p:txBody>
      </p:sp>
      <p:sp>
        <p:nvSpPr>
          <p:cNvPr id="35" name="Text 33"/>
          <p:cNvSpPr txBox="1"/>
          <p:nvPr/>
        </p:nvSpPr>
        <p:spPr>
          <a:xfrm>
            <a:off x="4526280" y="5166360"/>
            <a:ext cx="3063240" cy="731520"/>
          </a:xfrm>
          <a:prstGeom prst="rect">
            <a:avLst/>
          </a:prstGeom>
          <a:noFill/>
          <a:ln/>
        </p:spPr>
        <p:txBody>
          <a:bodyPr wrap="square" lIns="0" tIns="0" rIns="0" bIns="0" rtlCol="0" anchor="t"/>
          <a:lstStyle/>
          <a:p>
            <a:pPr indent="0" marL="0">
              <a:buNone/>
            </a:pPr>
            <a:r>
              <a:rPr lang="en-US" sz="1200" dirty="0">
                <a:solidFill>
                  <a:srgbClr val="C6C6C6"/>
                </a:solidFill>
              </a:rPr>
              <a:t>git commit -m "feat: add user-selected company chart (resolves #1)" → push → Actions green</a:t>
            </a:r>
            <a:endParaRPr lang="en-US" sz="1200" dirty="0"/>
          </a:p>
        </p:txBody>
      </p:sp>
      <p:sp>
        <p:nvSpPr>
          <p:cNvPr id="36" name="live step f"/>
          <p:cNvSpPr/>
          <p:nvPr/>
        </p:nvSpPr>
        <p:spPr>
          <a:xfrm>
            <a:off x="8046720" y="4389120"/>
            <a:ext cx="3474720" cy="1600200"/>
          </a:xfrm>
          <a:prstGeom prst="roundRect">
            <a:avLst>
              <a:gd name="adj" fmla="val 6857"/>
            </a:avLst>
          </a:prstGeom>
          <a:solidFill>
            <a:srgbClr val="262626"/>
          </a:solidFill>
          <a:ln/>
        </p:spPr>
      </p:sp>
      <p:sp>
        <p:nvSpPr>
          <p:cNvPr id="37" name="Shape 35"/>
          <p:cNvSpPr/>
          <p:nvPr/>
        </p:nvSpPr>
        <p:spPr>
          <a:xfrm>
            <a:off x="8275320" y="4590288"/>
            <a:ext cx="457200" cy="457200"/>
          </a:xfrm>
          <a:prstGeom prst="ellipse">
            <a:avLst/>
          </a:prstGeom>
          <a:solidFill>
            <a:schemeClr val="accent1"/>
          </a:solidFill>
          <a:ln/>
        </p:spPr>
      </p:sp>
      <p:sp>
        <p:nvSpPr>
          <p:cNvPr id="38" name="Text 36"/>
          <p:cNvSpPr txBox="1"/>
          <p:nvPr/>
        </p:nvSpPr>
        <p:spPr>
          <a:xfrm>
            <a:off x="827532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39" name="Text 37"/>
          <p:cNvSpPr txBox="1"/>
          <p:nvPr/>
        </p:nvSpPr>
        <p:spPr>
          <a:xfrm>
            <a:off x="8869680" y="4590288"/>
            <a:ext cx="1920240" cy="457200"/>
          </a:xfrm>
          <a:prstGeom prst="rect">
            <a:avLst/>
          </a:prstGeom>
          <a:noFill/>
          <a:ln/>
        </p:spPr>
        <p:txBody>
          <a:bodyPr wrap="square" lIns="0" tIns="0" rIns="0" bIns="0" rtlCol="0" anchor="ctr"/>
          <a:lstStyle/>
          <a:p>
            <a:pPr indent="0" marL="0">
              <a:buNone/>
            </a:pPr>
            <a:r>
              <a:rPr lang="en-US" sz="1600" b="1" dirty="0">
                <a:solidFill>
                  <a:srgbClr val="FFFFFF"/>
                </a:solidFill>
              </a:rPr>
              <a:t>Pull request</a:t>
            </a:r>
            <a:endParaRPr lang="en-US" sz="1600" dirty="0"/>
          </a:p>
        </p:txBody>
      </p:sp>
      <p:sp>
        <p:nvSpPr>
          <p:cNvPr id="40" name="Text 38"/>
          <p:cNvSpPr txBox="1"/>
          <p:nvPr/>
        </p:nvSpPr>
        <p:spPr>
          <a:xfrm>
            <a:off x="10744200" y="4590288"/>
            <a:ext cx="548640" cy="457200"/>
          </a:xfrm>
          <a:prstGeom prst="rect">
            <a:avLst/>
          </a:prstGeom>
          <a:noFill/>
          <a:ln/>
        </p:spPr>
        <p:txBody>
          <a:bodyPr wrap="square" lIns="0" tIns="0" rIns="0" bIns="0" rtlCol="0" anchor="ctr"/>
          <a:lstStyle/>
          <a:p>
            <a:pPr algn="r" indent="0" marL="0">
              <a:buNone/>
            </a:pPr>
            <a:r>
              <a:rPr lang="en-US" sz="1200" dirty="0">
                <a:solidFill>
                  <a:schemeClr val="accent2"/>
                </a:solidFill>
              </a:rPr>
              <a:t>0:45</a:t>
            </a:r>
            <a:endParaRPr lang="en-US" sz="1200" dirty="0"/>
          </a:p>
        </p:txBody>
      </p:sp>
      <p:sp>
        <p:nvSpPr>
          <p:cNvPr id="41" name="Text 39"/>
          <p:cNvSpPr txBox="1"/>
          <p:nvPr/>
        </p:nvSpPr>
        <p:spPr>
          <a:xfrm>
            <a:off x="8275320" y="5166360"/>
            <a:ext cx="3063240" cy="731520"/>
          </a:xfrm>
          <a:prstGeom prst="rect">
            <a:avLst/>
          </a:prstGeom>
          <a:noFill/>
          <a:ln/>
        </p:spPr>
        <p:txBody>
          <a:bodyPr wrap="square" lIns="0" tIns="0" rIns="0" bIns="0" rtlCol="0" anchor="t"/>
          <a:lstStyle/>
          <a:p>
            <a:pPr indent="0" marL="0">
              <a:buNone/>
            </a:pPr>
            <a:r>
              <a:rPr lang="en-US" sz="1200" dirty="0">
                <a:solidFill>
                  <a:srgbClr val="C6C6C6"/>
                </a:solidFill>
              </a:rPr>
              <a:t>Create PR; paste Bob's description. "Merge-ready: the full loop."</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What Harborline just saw</a:t>
            </a:r>
            <a:endParaRPr lang="en-US" sz="3600" dirty="0"/>
          </a:p>
        </p:txBody>
      </p:sp>
      <p:sp>
        <p:nvSpPr>
          <p:cNvPr id="3" name="Text 1"/>
          <p:cNvSpPr txBox="1"/>
          <p:nvPr/>
        </p:nvSpPr>
        <p:spPr>
          <a:xfrm>
            <a:off x="548640" y="1371600"/>
            <a:ext cx="4206240" cy="320040"/>
          </a:xfrm>
          <a:prstGeom prst="rect">
            <a:avLst/>
          </a:prstGeom>
          <a:noFill/>
          <a:ln/>
        </p:spPr>
        <p:txBody>
          <a:bodyPr wrap="square" lIns="0" tIns="0" rIns="0" bIns="0" rtlCol="0" anchor="ctr"/>
          <a:lstStyle/>
          <a:p>
            <a:pPr indent="0" marL="0">
              <a:buNone/>
            </a:pPr>
            <a:r>
              <a:rPr lang="en-US" sz="1200" b="1" spc="100" kern="0" dirty="0">
                <a:solidFill>
                  <a:srgbClr val="6F6F6F"/>
                </a:solidFill>
              </a:rPr>
              <a:t>HARBORLINE PAIN</a:t>
            </a:r>
            <a:endParaRPr lang="en-US" sz="1200" dirty="0"/>
          </a:p>
        </p:txBody>
      </p:sp>
      <p:sp>
        <p:nvSpPr>
          <p:cNvPr id="4" name="Text 2"/>
          <p:cNvSpPr txBox="1"/>
          <p:nvPr/>
        </p:nvSpPr>
        <p:spPr>
          <a:xfrm>
            <a:off x="5486400" y="1371600"/>
            <a:ext cx="4206240" cy="320040"/>
          </a:xfrm>
          <a:prstGeom prst="rect">
            <a:avLst/>
          </a:prstGeom>
          <a:noFill/>
          <a:ln/>
        </p:spPr>
        <p:txBody>
          <a:bodyPr wrap="square" lIns="0" tIns="0" rIns="0" bIns="0" rtlCol="0" anchor="ctr"/>
          <a:lstStyle/>
          <a:p>
            <a:pPr indent="0" marL="0">
              <a:buNone/>
            </a:pPr>
            <a:r>
              <a:rPr lang="en-US" sz="1200" b="1" spc="100" kern="0" dirty="0">
                <a:solidFill>
                  <a:schemeClr val="accent1"/>
                </a:solidFill>
              </a:rPr>
              <a:t>WHAT IBM BOB DID</a:t>
            </a:r>
            <a:endParaRPr lang="en-US" sz="1200" dirty="0"/>
          </a:p>
        </p:txBody>
      </p:sp>
      <p:sp>
        <p:nvSpPr>
          <p:cNvPr id="5" name="Shape 3"/>
          <p:cNvSpPr/>
          <p:nvPr/>
        </p:nvSpPr>
        <p:spPr>
          <a:xfrm>
            <a:off x="548640" y="1783080"/>
            <a:ext cx="4480560" cy="640080"/>
          </a:xfrm>
          <a:prstGeom prst="roundRect">
            <a:avLst>
              <a:gd name="adj" fmla="val 14286"/>
            </a:avLst>
          </a:prstGeom>
          <a:solidFill>
            <a:schemeClr val="bg2"/>
          </a:solidFill>
          <a:ln/>
        </p:spPr>
      </p:sp>
      <p:sp>
        <p:nvSpPr>
          <p:cNvPr id="6" name="Text 4"/>
          <p:cNvSpPr txBox="1"/>
          <p:nvPr/>
        </p:nvSpPr>
        <p:spPr>
          <a:xfrm>
            <a:off x="777240" y="1783080"/>
            <a:ext cx="4114800" cy="640080"/>
          </a:xfrm>
          <a:prstGeom prst="rect">
            <a:avLst/>
          </a:prstGeom>
          <a:noFill/>
          <a:ln/>
        </p:spPr>
        <p:txBody>
          <a:bodyPr wrap="square" lIns="0" tIns="0" rIns="0" bIns="0" rtlCol="0" anchor="ctr"/>
          <a:lstStyle/>
          <a:p>
            <a:pPr indent="0" marL="0">
              <a:buNone/>
            </a:pPr>
            <a:r>
              <a:rPr lang="en-US" sz="1500" dirty="0">
                <a:solidFill>
                  <a:schemeClr val="tx1"/>
                </a:solidFill>
              </a:rPr>
              <a:t>Setup toil before the first useful line</a:t>
            </a:r>
            <a:endParaRPr lang="en-US" sz="1500" dirty="0"/>
          </a:p>
        </p:txBody>
      </p:sp>
      <p:sp>
        <p:nvSpPr>
          <p:cNvPr id="7" name="Text 5"/>
          <p:cNvSpPr txBox="1"/>
          <p:nvPr/>
        </p:nvSpPr>
        <p:spPr>
          <a:xfrm>
            <a:off x="5029200" y="1783080"/>
            <a:ext cx="457200" cy="64008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8" name="Shape 6"/>
          <p:cNvSpPr/>
          <p:nvPr/>
        </p:nvSpPr>
        <p:spPr>
          <a:xfrm>
            <a:off x="5486400" y="1783080"/>
            <a:ext cx="6126480" cy="640080"/>
          </a:xfrm>
          <a:prstGeom prst="roundRect">
            <a:avLst>
              <a:gd name="adj" fmla="val 14286"/>
            </a:avLst>
          </a:prstGeom>
          <a:solidFill>
            <a:srgbClr val="EDF5FF"/>
          </a:solidFill>
          <a:ln/>
        </p:spPr>
      </p:sp>
      <p:pic>
        <p:nvPicPr>
          <p:cNvPr id="9" name="Image 0" descr="preencoded.png">    </p:cNvPr>
          <p:cNvPicPr>
            <a:picLocks noChangeAspect="1"/>
          </p:cNvPicPr>
          <p:nvPr/>
        </p:nvPicPr>
        <p:blipFill>
          <a:blip r:embed="rId1"/>
          <a:stretch>
            <a:fillRect/>
          </a:stretch>
        </p:blipFill>
        <p:spPr>
          <a:xfrm>
            <a:off x="5669280" y="1947672"/>
            <a:ext cx="310896" cy="310896"/>
          </a:xfrm>
          <a:prstGeom prst="rect">
            <a:avLst/>
          </a:prstGeom>
        </p:spPr>
      </p:pic>
      <p:sp>
        <p:nvSpPr>
          <p:cNvPr id="10" name="Text 7"/>
          <p:cNvSpPr txBox="1"/>
          <p:nvPr/>
        </p:nvSpPr>
        <p:spPr>
          <a:xfrm>
            <a:off x="6126480" y="1783080"/>
            <a:ext cx="5394960" cy="640080"/>
          </a:xfrm>
          <a:prstGeom prst="rect">
            <a:avLst/>
          </a:prstGeom>
          <a:noFill/>
          <a:ln/>
        </p:spPr>
        <p:txBody>
          <a:bodyPr wrap="square" lIns="0" tIns="0" rIns="0" bIns="0" rtlCol="0" anchor="ctr"/>
          <a:lstStyle/>
          <a:p>
            <a:pPr indent="0" marL="0">
              <a:buNone/>
            </a:pPr>
            <a:r>
              <a:rPr lang="en-US" sz="1500" dirty="0">
                <a:solidFill>
                  <a:schemeClr val="tx1"/>
                </a:solidFill>
              </a:rPr>
              <a:t>Plan and scaffold from one prompt, with approval gates</a:t>
            </a:r>
            <a:endParaRPr lang="en-US" sz="1500" dirty="0"/>
          </a:p>
        </p:txBody>
      </p:sp>
      <p:sp>
        <p:nvSpPr>
          <p:cNvPr id="11" name="Shape 8"/>
          <p:cNvSpPr/>
          <p:nvPr/>
        </p:nvSpPr>
        <p:spPr>
          <a:xfrm>
            <a:off x="548640" y="2560320"/>
            <a:ext cx="4480560" cy="640080"/>
          </a:xfrm>
          <a:prstGeom prst="roundRect">
            <a:avLst>
              <a:gd name="adj" fmla="val 14286"/>
            </a:avLst>
          </a:prstGeom>
          <a:solidFill>
            <a:schemeClr val="bg2"/>
          </a:solidFill>
          <a:ln/>
        </p:spPr>
      </p:sp>
      <p:sp>
        <p:nvSpPr>
          <p:cNvPr id="12" name="Text 9"/>
          <p:cNvSpPr txBox="1"/>
          <p:nvPr/>
        </p:nvSpPr>
        <p:spPr>
          <a:xfrm>
            <a:off x="777240" y="2560320"/>
            <a:ext cx="4114800" cy="640080"/>
          </a:xfrm>
          <a:prstGeom prst="rect">
            <a:avLst/>
          </a:prstGeom>
          <a:noFill/>
          <a:ln/>
        </p:spPr>
        <p:txBody>
          <a:bodyPr wrap="square" lIns="0" tIns="0" rIns="0" bIns="0" rtlCol="0" anchor="ctr"/>
          <a:lstStyle/>
          <a:p>
            <a:pPr indent="0" marL="0">
              <a:buNone/>
            </a:pPr>
            <a:r>
              <a:rPr lang="en-US" sz="1500" dirty="0">
                <a:solidFill>
                  <a:schemeClr val="tx1"/>
                </a:solidFill>
              </a:rPr>
              <a:t>Delivery paperwork after the code</a:t>
            </a:r>
            <a:endParaRPr lang="en-US" sz="1500" dirty="0"/>
          </a:p>
        </p:txBody>
      </p:sp>
      <p:sp>
        <p:nvSpPr>
          <p:cNvPr id="13" name="Text 10"/>
          <p:cNvSpPr txBox="1"/>
          <p:nvPr/>
        </p:nvSpPr>
        <p:spPr>
          <a:xfrm>
            <a:off x="5029200" y="2560320"/>
            <a:ext cx="457200" cy="64008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4" name="Shape 11"/>
          <p:cNvSpPr/>
          <p:nvPr/>
        </p:nvSpPr>
        <p:spPr>
          <a:xfrm>
            <a:off x="5486400" y="2560320"/>
            <a:ext cx="6126480" cy="640080"/>
          </a:xfrm>
          <a:prstGeom prst="roundRect">
            <a:avLst>
              <a:gd name="adj" fmla="val 14286"/>
            </a:avLst>
          </a:prstGeom>
          <a:solidFill>
            <a:srgbClr val="EDF5FF"/>
          </a:solidFill>
          <a:ln/>
        </p:spPr>
      </p:sp>
      <p:pic>
        <p:nvPicPr>
          <p:cNvPr id="15" name="Image 1" descr="preencoded.png">    </p:cNvPr>
          <p:cNvPicPr>
            <a:picLocks noChangeAspect="1"/>
          </p:cNvPicPr>
          <p:nvPr/>
        </p:nvPicPr>
        <p:blipFill>
          <a:blip r:embed="rId2"/>
          <a:stretch>
            <a:fillRect/>
          </a:stretch>
        </p:blipFill>
        <p:spPr>
          <a:xfrm>
            <a:off x="5669280" y="2724912"/>
            <a:ext cx="310896" cy="310896"/>
          </a:xfrm>
          <a:prstGeom prst="rect">
            <a:avLst/>
          </a:prstGeom>
        </p:spPr>
      </p:pic>
      <p:sp>
        <p:nvSpPr>
          <p:cNvPr id="16" name="Text 12"/>
          <p:cNvSpPr txBox="1"/>
          <p:nvPr/>
        </p:nvSpPr>
        <p:spPr>
          <a:xfrm>
            <a:off x="6126480" y="2560320"/>
            <a:ext cx="5394960" cy="640080"/>
          </a:xfrm>
          <a:prstGeom prst="rect">
            <a:avLst/>
          </a:prstGeom>
          <a:noFill/>
          <a:ln/>
        </p:spPr>
        <p:txBody>
          <a:bodyPr wrap="square" lIns="0" tIns="0" rIns="0" bIns="0" rtlCol="0" anchor="ctr"/>
          <a:lstStyle/>
          <a:p>
            <a:pPr indent="0" marL="0">
              <a:buNone/>
            </a:pPr>
            <a:r>
              <a:rPr lang="en-US" sz="1500" dirty="0">
                <a:solidFill>
                  <a:schemeClr val="tx1"/>
                </a:solidFill>
              </a:rPr>
              <a:t>Commit message and PR description prepared by Bob</a:t>
            </a:r>
            <a:endParaRPr lang="en-US" sz="1500" dirty="0"/>
          </a:p>
        </p:txBody>
      </p:sp>
      <p:sp>
        <p:nvSpPr>
          <p:cNvPr id="17" name="Shape 13"/>
          <p:cNvSpPr/>
          <p:nvPr/>
        </p:nvSpPr>
        <p:spPr>
          <a:xfrm>
            <a:off x="548640" y="3337560"/>
            <a:ext cx="4480560" cy="640080"/>
          </a:xfrm>
          <a:prstGeom prst="roundRect">
            <a:avLst>
              <a:gd name="adj" fmla="val 14286"/>
            </a:avLst>
          </a:prstGeom>
          <a:solidFill>
            <a:schemeClr val="bg2"/>
          </a:solidFill>
          <a:ln/>
        </p:spPr>
      </p:sp>
      <p:sp>
        <p:nvSpPr>
          <p:cNvPr id="18" name="Text 14"/>
          <p:cNvSpPr txBox="1"/>
          <p:nvPr/>
        </p:nvSpPr>
        <p:spPr>
          <a:xfrm>
            <a:off x="777240" y="3337560"/>
            <a:ext cx="4114800" cy="640080"/>
          </a:xfrm>
          <a:prstGeom prst="rect">
            <a:avLst/>
          </a:prstGeom>
          <a:noFill/>
          <a:ln/>
        </p:spPr>
        <p:txBody>
          <a:bodyPr wrap="square" lIns="0" tIns="0" rIns="0" bIns="0" rtlCol="0" anchor="ctr"/>
          <a:lstStyle/>
          <a:p>
            <a:pPr indent="0" marL="0">
              <a:buNone/>
            </a:pPr>
            <a:r>
              <a:rPr lang="en-US" sz="1500" dirty="0">
                <a:solidFill>
                  <a:schemeClr val="tx1"/>
                </a:solidFill>
              </a:rPr>
              <a:t>Red CI runs and rework</a:t>
            </a:r>
            <a:endParaRPr lang="en-US" sz="1500" dirty="0"/>
          </a:p>
        </p:txBody>
      </p:sp>
      <p:sp>
        <p:nvSpPr>
          <p:cNvPr id="19" name="Text 15"/>
          <p:cNvSpPr txBox="1"/>
          <p:nvPr/>
        </p:nvSpPr>
        <p:spPr>
          <a:xfrm>
            <a:off x="5029200" y="3337560"/>
            <a:ext cx="457200" cy="64008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20" name="Shape 16"/>
          <p:cNvSpPr/>
          <p:nvPr/>
        </p:nvSpPr>
        <p:spPr>
          <a:xfrm>
            <a:off x="5486400" y="3337560"/>
            <a:ext cx="6126480" cy="640080"/>
          </a:xfrm>
          <a:prstGeom prst="roundRect">
            <a:avLst>
              <a:gd name="adj" fmla="val 14286"/>
            </a:avLst>
          </a:prstGeom>
          <a:solidFill>
            <a:srgbClr val="EDF5FF"/>
          </a:solidFill>
          <a:ln/>
        </p:spPr>
      </p:sp>
      <p:pic>
        <p:nvPicPr>
          <p:cNvPr id="21" name="Image 2" descr="preencoded.png">    </p:cNvPr>
          <p:cNvPicPr>
            <a:picLocks noChangeAspect="1"/>
          </p:cNvPicPr>
          <p:nvPr/>
        </p:nvPicPr>
        <p:blipFill>
          <a:blip r:embed="rId3"/>
          <a:stretch>
            <a:fillRect/>
          </a:stretch>
        </p:blipFill>
        <p:spPr>
          <a:xfrm>
            <a:off x="5669280" y="3502152"/>
            <a:ext cx="310896" cy="310896"/>
          </a:xfrm>
          <a:prstGeom prst="rect">
            <a:avLst/>
          </a:prstGeom>
        </p:spPr>
      </p:pic>
      <p:sp>
        <p:nvSpPr>
          <p:cNvPr id="22" name="Text 17"/>
          <p:cNvSpPr txBox="1"/>
          <p:nvPr/>
        </p:nvSpPr>
        <p:spPr>
          <a:xfrm>
            <a:off x="6126480" y="3337560"/>
            <a:ext cx="5394960" cy="640080"/>
          </a:xfrm>
          <a:prstGeom prst="rect">
            <a:avLst/>
          </a:prstGeom>
          <a:noFill/>
          <a:ln/>
        </p:spPr>
        <p:txBody>
          <a:bodyPr wrap="square" lIns="0" tIns="0" rIns="0" bIns="0" rtlCol="0" anchor="ctr"/>
          <a:lstStyle/>
          <a:p>
            <a:pPr indent="0" marL="0">
              <a:buNone/>
            </a:pPr>
            <a:r>
              <a:rPr lang="en-US" sz="1500" dirty="0">
                <a:solidFill>
                  <a:schemeClr val="tx1"/>
                </a:solidFill>
              </a:rPr>
              <a:t>Same lint/test/build gates run locally first: green on first push</a:t>
            </a:r>
            <a:endParaRPr lang="en-US" sz="1500" dirty="0"/>
          </a:p>
        </p:txBody>
      </p:sp>
      <p:sp>
        <p:nvSpPr>
          <p:cNvPr id="23" name="Shape 18"/>
          <p:cNvSpPr/>
          <p:nvPr/>
        </p:nvSpPr>
        <p:spPr>
          <a:xfrm>
            <a:off x="548640" y="4114800"/>
            <a:ext cx="4480560" cy="640080"/>
          </a:xfrm>
          <a:prstGeom prst="roundRect">
            <a:avLst>
              <a:gd name="adj" fmla="val 14286"/>
            </a:avLst>
          </a:prstGeom>
          <a:solidFill>
            <a:schemeClr val="bg2"/>
          </a:solidFill>
          <a:ln/>
        </p:spPr>
      </p:sp>
      <p:sp>
        <p:nvSpPr>
          <p:cNvPr id="24" name="Text 19"/>
          <p:cNvSpPr txBox="1"/>
          <p:nvPr/>
        </p:nvSpPr>
        <p:spPr>
          <a:xfrm>
            <a:off x="777240" y="4114800"/>
            <a:ext cx="4114800" cy="640080"/>
          </a:xfrm>
          <a:prstGeom prst="rect">
            <a:avLst/>
          </a:prstGeom>
          <a:noFill/>
          <a:ln/>
        </p:spPr>
        <p:txBody>
          <a:bodyPr wrap="square" lIns="0" tIns="0" rIns="0" bIns="0" rtlCol="0" anchor="ctr"/>
          <a:lstStyle/>
          <a:p>
            <a:pPr indent="0" marL="0">
              <a:buNone/>
            </a:pPr>
            <a:r>
              <a:rPr lang="en-US" sz="1500" dirty="0">
                <a:solidFill>
                  <a:schemeClr val="tx1"/>
                </a:solidFill>
              </a:rPr>
              <a:t>Scattered, unauditable AI use</a:t>
            </a:r>
            <a:endParaRPr lang="en-US" sz="1500" dirty="0"/>
          </a:p>
        </p:txBody>
      </p:sp>
      <p:sp>
        <p:nvSpPr>
          <p:cNvPr id="25" name="Text 20"/>
          <p:cNvSpPr txBox="1"/>
          <p:nvPr/>
        </p:nvSpPr>
        <p:spPr>
          <a:xfrm>
            <a:off x="5029200" y="4114800"/>
            <a:ext cx="457200" cy="64008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26" name="Shape 21"/>
          <p:cNvSpPr/>
          <p:nvPr/>
        </p:nvSpPr>
        <p:spPr>
          <a:xfrm>
            <a:off x="5486400" y="4114800"/>
            <a:ext cx="6126480" cy="640080"/>
          </a:xfrm>
          <a:prstGeom prst="roundRect">
            <a:avLst>
              <a:gd name="adj" fmla="val 14286"/>
            </a:avLst>
          </a:prstGeom>
          <a:solidFill>
            <a:srgbClr val="EDF5FF"/>
          </a:solidFill>
          <a:ln/>
        </p:spPr>
      </p:sp>
      <p:pic>
        <p:nvPicPr>
          <p:cNvPr id="27" name="Image 3" descr="preencoded.png">    </p:cNvPr>
          <p:cNvPicPr>
            <a:picLocks noChangeAspect="1"/>
          </p:cNvPicPr>
          <p:nvPr/>
        </p:nvPicPr>
        <p:blipFill>
          <a:blip r:embed="rId4"/>
          <a:stretch>
            <a:fillRect/>
          </a:stretch>
        </p:blipFill>
        <p:spPr>
          <a:xfrm>
            <a:off x="5669280" y="4279392"/>
            <a:ext cx="310896" cy="310896"/>
          </a:xfrm>
          <a:prstGeom prst="rect">
            <a:avLst/>
          </a:prstGeom>
        </p:spPr>
      </p:pic>
      <p:sp>
        <p:nvSpPr>
          <p:cNvPr id="28" name="Text 22"/>
          <p:cNvSpPr txBox="1"/>
          <p:nvPr/>
        </p:nvSpPr>
        <p:spPr>
          <a:xfrm>
            <a:off x="6126480" y="4114800"/>
            <a:ext cx="5394960" cy="640080"/>
          </a:xfrm>
          <a:prstGeom prst="rect">
            <a:avLst/>
          </a:prstGeom>
          <a:noFill/>
          <a:ln/>
        </p:spPr>
        <p:txBody>
          <a:bodyPr wrap="square" lIns="0" tIns="0" rIns="0" bIns="0" rtlCol="0" anchor="ctr"/>
          <a:lstStyle/>
          <a:p>
            <a:pPr indent="0" marL="0">
              <a:buNone/>
            </a:pPr>
            <a:r>
              <a:rPr lang="en-US" sz="1500" dirty="0">
                <a:solidFill>
                  <a:schemeClr val="tx1"/>
                </a:solidFill>
              </a:rPr>
              <a:t>One workflow: issue → plan → approve → PR, with a record at every step</a:t>
            </a:r>
            <a:endParaRPr lang="en-US" sz="1500" dirty="0"/>
          </a:p>
        </p:txBody>
      </p:sp>
      <p:sp>
        <p:nvSpPr>
          <p:cNvPr id="29" name="control callout"/>
          <p:cNvSpPr/>
          <p:nvPr/>
        </p:nvSpPr>
        <p:spPr>
          <a:xfrm>
            <a:off x="548640" y="5029200"/>
            <a:ext cx="11064240" cy="1005840"/>
          </a:xfrm>
          <a:prstGeom prst="roundRect">
            <a:avLst>
              <a:gd name="adj" fmla="val 13636"/>
            </a:avLst>
          </a:prstGeom>
          <a:solidFill>
            <a:schemeClr val="tx1"/>
          </a:solidFill>
          <a:ln/>
        </p:spPr>
      </p:sp>
      <p:sp>
        <p:nvSpPr>
          <p:cNvPr id="30" name="control circle"/>
          <p:cNvSpPr/>
          <p:nvPr/>
        </p:nvSpPr>
        <p:spPr>
          <a:xfrm>
            <a:off x="822960" y="5212080"/>
            <a:ext cx="640080" cy="640080"/>
          </a:xfrm>
          <a:prstGeom prst="ellipse">
            <a:avLst/>
          </a:prstGeom>
          <a:solidFill>
            <a:srgbClr val="8A3FFC"/>
          </a:solidFill>
          <a:ln/>
        </p:spPr>
      </p:sp>
      <p:pic>
        <p:nvPicPr>
          <p:cNvPr id="31" name="control icon" descr="preencoded.png">    </p:cNvPr>
          <p:cNvPicPr>
            <a:picLocks noChangeAspect="1"/>
          </p:cNvPicPr>
          <p:nvPr/>
        </p:nvPicPr>
        <p:blipFill>
          <a:blip r:embed="rId5"/>
          <a:stretch>
            <a:fillRect/>
          </a:stretch>
        </p:blipFill>
        <p:spPr>
          <a:xfrm>
            <a:off x="982980" y="5372100"/>
            <a:ext cx="320040" cy="320040"/>
          </a:xfrm>
          <a:prstGeom prst="rect">
            <a:avLst/>
          </a:prstGeom>
        </p:spPr>
      </p:pic>
      <p:sp>
        <p:nvSpPr>
          <p:cNvPr id="32" name="Text 25"/>
          <p:cNvSpPr txBox="1"/>
          <p:nvPr/>
        </p:nvSpPr>
        <p:spPr>
          <a:xfrm>
            <a:off x="1691640" y="5029200"/>
            <a:ext cx="9692640" cy="1005840"/>
          </a:xfrm>
          <a:prstGeom prst="rect">
            <a:avLst/>
          </a:prstGeom>
          <a:noFill/>
          <a:ln/>
        </p:spPr>
        <p:txBody>
          <a:bodyPr wrap="square" lIns="0" tIns="0" rIns="0" bIns="0" rtlCol="0" anchor="ctr"/>
          <a:lstStyle/>
          <a:p>
            <a:pPr indent="0" marL="0">
              <a:buNone/>
            </a:pPr>
            <a:r>
              <a:rPr lang="en-US" sz="1600" b="1" dirty="0">
                <a:solidFill>
                  <a:srgbClr val="FFFFFF"/>
                </a:solidFill>
              </a:rPr>
              <a:t>Developers stayed in control.  </a:t>
            </a:r>
            <a:pPr indent="0" marL="0">
              <a:buNone/>
            </a:pPr>
            <a:r>
              <a:rPr lang="en-US" sz="1600" dirty="0">
                <a:solidFill>
                  <a:srgbClr val="C6C6C6"/>
                </a:solidFill>
              </a:rPr>
              <a:t>They approved the plan, reviewed the output, and owned the push. Bob did the implementation and preparation work.</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F6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Next step: prove it on a Harborline issue</a:t>
            </a:r>
            <a:endParaRPr lang="en-US" sz="3600" dirty="0"/>
          </a:p>
        </p:txBody>
      </p:sp>
      <p:sp>
        <p:nvSpPr>
          <p:cNvPr id="3" name="option 1"/>
          <p:cNvSpPr/>
          <p:nvPr/>
        </p:nvSpPr>
        <p:spPr>
          <a:xfrm>
            <a:off x="548640" y="1417320"/>
            <a:ext cx="3474720" cy="3429000"/>
          </a:xfrm>
          <a:prstGeom prst="roundRect">
            <a:avLst>
              <a:gd name="adj" fmla="val 4000"/>
            </a:avLst>
          </a:prstGeom>
          <a:solidFill>
            <a:srgbClr val="262626"/>
          </a:solidFill>
          <a:ln/>
        </p:spPr>
      </p:sp>
      <p:sp>
        <p:nvSpPr>
          <p:cNvPr id="4" name="option 1 circle"/>
          <p:cNvSpPr/>
          <p:nvPr/>
        </p:nvSpPr>
        <p:spPr>
          <a:xfrm>
            <a:off x="822960" y="1691640"/>
            <a:ext cx="731520" cy="731520"/>
          </a:xfrm>
          <a:prstGeom prst="ellipse">
            <a:avLst/>
          </a:prstGeom>
          <a:solidFill>
            <a:srgbClr val="0F62FE"/>
          </a:solidFill>
          <a:ln/>
        </p:spPr>
      </p:sp>
      <p:pic>
        <p:nvPicPr>
          <p:cNvPr id="5" name="option 1 icon" descr="preencoded.png">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37360" y="1737360"/>
            <a:ext cx="2103120" cy="274320"/>
          </a:xfrm>
          <a:prstGeom prst="rect">
            <a:avLst/>
          </a:prstGeom>
          <a:noFill/>
          <a:ln/>
        </p:spPr>
        <p:txBody>
          <a:bodyPr wrap="square" lIns="0" tIns="0" rIns="0" bIns="0" rtlCol="0" anchor="ctr"/>
          <a:lstStyle/>
          <a:p>
            <a:pPr indent="0" marL="0">
              <a:buNone/>
            </a:pPr>
            <a:r>
              <a:rPr lang="en-US" sz="1100" b="1" dirty="0">
                <a:solidFill>
                  <a:srgbClr val="A8A8A8"/>
                </a:solidFill>
              </a:rPr>
              <a:t>OPTION 1</a:t>
            </a:r>
            <a:endParaRPr lang="en-US" sz="1100" dirty="0"/>
          </a:p>
        </p:txBody>
      </p:sp>
      <p:sp>
        <p:nvSpPr>
          <p:cNvPr id="7" name="Text 4"/>
          <p:cNvSpPr txBox="1"/>
          <p:nvPr/>
        </p:nvSpPr>
        <p:spPr>
          <a:xfrm>
            <a:off x="1737360" y="2011680"/>
            <a:ext cx="2194560" cy="365760"/>
          </a:xfrm>
          <a:prstGeom prst="rect">
            <a:avLst/>
          </a:prstGeom>
          <a:noFill/>
          <a:ln/>
        </p:spPr>
        <p:txBody>
          <a:bodyPr wrap="square" lIns="0" tIns="0" rIns="0" bIns="0" rtlCol="0" anchor="ctr"/>
          <a:lstStyle/>
          <a:p>
            <a:pPr indent="0" marL="0">
              <a:buNone/>
            </a:pPr>
            <a:r>
              <a:rPr lang="en-US" sz="1300" b="1" dirty="0">
                <a:solidFill>
                  <a:srgbClr val="08BDBA"/>
                </a:solidFill>
              </a:rPr>
              <a:t>Half day</a:t>
            </a:r>
            <a:endParaRPr lang="en-US" sz="1300" dirty="0"/>
          </a:p>
        </p:txBody>
      </p:sp>
      <p:sp>
        <p:nvSpPr>
          <p:cNvPr id="8" name="Text 5"/>
          <p:cNvSpPr txBox="1"/>
          <p:nvPr/>
        </p:nvSpPr>
        <p:spPr>
          <a:xfrm>
            <a:off x="822960" y="2651760"/>
            <a:ext cx="3017520" cy="457200"/>
          </a:xfrm>
          <a:prstGeom prst="rect">
            <a:avLst/>
          </a:prstGeom>
          <a:noFill/>
          <a:ln/>
        </p:spPr>
        <p:txBody>
          <a:bodyPr wrap="square" lIns="0" tIns="0" rIns="0" bIns="0" rtlCol="0" anchor="ctr"/>
          <a:lstStyle/>
          <a:p>
            <a:pPr indent="0" marL="0">
              <a:buNone/>
            </a:pPr>
            <a:r>
              <a:rPr lang="en-US" sz="2000" b="1" dirty="0">
                <a:solidFill>
                  <a:srgbClr val="FFFFFF"/>
                </a:solidFill>
              </a:rPr>
              <a:t>Hands-on workshop</a:t>
            </a:r>
            <a:endParaRPr lang="en-US" sz="2000" dirty="0"/>
          </a:p>
        </p:txBody>
      </p:sp>
      <p:sp>
        <p:nvSpPr>
          <p:cNvPr id="9" name="Text 6"/>
          <p:cNvSpPr txBox="1"/>
          <p:nvPr/>
        </p:nvSpPr>
        <p:spPr>
          <a:xfrm>
            <a:off x="822960" y="3154680"/>
            <a:ext cx="3017520" cy="1554480"/>
          </a:xfrm>
          <a:prstGeom prst="rect">
            <a:avLst/>
          </a:prstGeom>
          <a:noFill/>
          <a:ln/>
        </p:spPr>
        <p:txBody>
          <a:bodyPr wrap="square" lIns="0" tIns="0" rIns="0" bIns="0" rtlCol="0" anchor="t"/>
          <a:lstStyle/>
          <a:p>
            <a:pPr indent="0" marL="0">
              <a:buNone/>
            </a:pPr>
            <a:r>
              <a:rPr lang="en-US" sz="1400" dirty="0">
                <a:solidFill>
                  <a:srgbClr val="C6C6C6"/>
                </a:solidFill>
              </a:rPr>
              <a:t>Your developers run this exact workflow against a Harborline repo and leave with a repeatable pattern.</a:t>
            </a:r>
            <a:endParaRPr lang="en-US" sz="1400" dirty="0"/>
          </a:p>
        </p:txBody>
      </p:sp>
      <p:sp>
        <p:nvSpPr>
          <p:cNvPr id="10" name="option 2"/>
          <p:cNvSpPr/>
          <p:nvPr/>
        </p:nvSpPr>
        <p:spPr>
          <a:xfrm>
            <a:off x="4297680" y="1417320"/>
            <a:ext cx="3474720" cy="3429000"/>
          </a:xfrm>
          <a:prstGeom prst="roundRect">
            <a:avLst>
              <a:gd name="adj" fmla="val 4000"/>
            </a:avLst>
          </a:prstGeom>
          <a:solidFill>
            <a:srgbClr val="0F62FE"/>
          </a:solidFill>
          <a:ln/>
        </p:spPr>
      </p:sp>
      <p:sp>
        <p:nvSpPr>
          <p:cNvPr id="11" name="option 2 circle"/>
          <p:cNvSpPr/>
          <p:nvPr/>
        </p:nvSpPr>
        <p:spPr>
          <a:xfrm>
            <a:off x="4572000" y="1691640"/>
            <a:ext cx="731520" cy="731520"/>
          </a:xfrm>
          <a:prstGeom prst="ellipse">
            <a:avLst/>
          </a:prstGeom>
          <a:solidFill>
            <a:srgbClr val="001D6C"/>
          </a:solidFill>
          <a:ln/>
        </p:spPr>
      </p:sp>
      <p:pic>
        <p:nvPicPr>
          <p:cNvPr id="12" name="option 2 icon" descr="preencoded.png">    </p:cNvPr>
          <p:cNvPicPr>
            <a:picLocks noChangeAspect="1"/>
          </p:cNvPicPr>
          <p:nvPr/>
        </p:nvPicPr>
        <p:blipFill>
          <a:blip r:embed="rId2"/>
          <a:stretch>
            <a:fillRect/>
          </a:stretch>
        </p:blipFill>
        <p:spPr>
          <a:xfrm>
            <a:off x="4754880" y="1874520"/>
            <a:ext cx="365760" cy="365760"/>
          </a:xfrm>
          <a:prstGeom prst="rect">
            <a:avLst/>
          </a:prstGeom>
        </p:spPr>
      </p:pic>
      <p:sp>
        <p:nvSpPr>
          <p:cNvPr id="13" name="Text 9"/>
          <p:cNvSpPr txBox="1"/>
          <p:nvPr/>
        </p:nvSpPr>
        <p:spPr>
          <a:xfrm>
            <a:off x="5486400" y="1737360"/>
            <a:ext cx="2103120" cy="274320"/>
          </a:xfrm>
          <a:prstGeom prst="rect">
            <a:avLst/>
          </a:prstGeom>
          <a:noFill/>
          <a:ln/>
        </p:spPr>
        <p:txBody>
          <a:bodyPr wrap="square" lIns="0" tIns="0" rIns="0" bIns="0" rtlCol="0" anchor="ctr"/>
          <a:lstStyle/>
          <a:p>
            <a:pPr indent="0" marL="0">
              <a:buNone/>
            </a:pPr>
            <a:r>
              <a:rPr lang="en-US" sz="1100" b="1" dirty="0">
                <a:solidFill>
                  <a:srgbClr val="FFFFFF"/>
                </a:solidFill>
              </a:rPr>
              <a:t>OPTION 2</a:t>
            </a:r>
            <a:endParaRPr lang="en-US" sz="1100" dirty="0"/>
          </a:p>
        </p:txBody>
      </p:sp>
      <p:sp>
        <p:nvSpPr>
          <p:cNvPr id="14" name="Text 10"/>
          <p:cNvSpPr txBox="1"/>
          <p:nvPr/>
        </p:nvSpPr>
        <p:spPr>
          <a:xfrm>
            <a:off x="5486400" y="2011680"/>
            <a:ext cx="2194560" cy="365760"/>
          </a:xfrm>
          <a:prstGeom prst="rect">
            <a:avLst/>
          </a:prstGeom>
          <a:noFill/>
          <a:ln/>
        </p:spPr>
        <p:txBody>
          <a:bodyPr wrap="square" lIns="0" tIns="0" rIns="0" bIns="0" rtlCol="0" anchor="ctr"/>
          <a:lstStyle/>
          <a:p>
            <a:pPr indent="0" marL="0">
              <a:buNone/>
            </a:pPr>
            <a:r>
              <a:rPr lang="en-US" sz="1300" b="1" dirty="0">
                <a:solidFill>
                  <a:srgbClr val="FFFFFF"/>
                </a:solidFill>
              </a:rPr>
              <a:t>Recommended  ·  2 weeks</a:t>
            </a:r>
            <a:endParaRPr lang="en-US" sz="1300" dirty="0"/>
          </a:p>
        </p:txBody>
      </p:sp>
      <p:sp>
        <p:nvSpPr>
          <p:cNvPr id="15" name="Text 11"/>
          <p:cNvSpPr txBox="1"/>
          <p:nvPr/>
        </p:nvSpPr>
        <p:spPr>
          <a:xfrm>
            <a:off x="4572000" y="2651760"/>
            <a:ext cx="3017520" cy="457200"/>
          </a:xfrm>
          <a:prstGeom prst="rect">
            <a:avLst/>
          </a:prstGeom>
          <a:noFill/>
          <a:ln/>
        </p:spPr>
        <p:txBody>
          <a:bodyPr wrap="square" lIns="0" tIns="0" rIns="0" bIns="0" rtlCol="0" anchor="ctr"/>
          <a:lstStyle/>
          <a:p>
            <a:pPr indent="0" marL="0">
              <a:buNone/>
            </a:pPr>
            <a:r>
              <a:rPr lang="en-US" sz="2000" b="1" dirty="0">
                <a:solidFill>
                  <a:srgbClr val="FFFFFF"/>
                </a:solidFill>
              </a:rPr>
              <a:t>Proof of Experience</a:t>
            </a:r>
            <a:endParaRPr lang="en-US" sz="2000" dirty="0"/>
          </a:p>
        </p:txBody>
      </p:sp>
      <p:sp>
        <p:nvSpPr>
          <p:cNvPr id="16" name="Text 12"/>
          <p:cNvSpPr txBox="1"/>
          <p:nvPr/>
        </p:nvSpPr>
        <p:spPr>
          <a:xfrm>
            <a:off x="4572000" y="3154680"/>
            <a:ext cx="3017520" cy="1554480"/>
          </a:xfrm>
          <a:prstGeom prst="rect">
            <a:avLst/>
          </a:prstGeom>
          <a:noFill/>
          <a:ln/>
        </p:spPr>
        <p:txBody>
          <a:bodyPr wrap="square" lIns="0" tIns="0" rIns="0" bIns="0" rtlCol="0" anchor="t"/>
          <a:lstStyle/>
          <a:p>
            <a:pPr indent="0" marL="0">
              <a:buNone/>
            </a:pPr>
            <a:r>
              <a:rPr lang="en-US" sz="1400" dirty="0">
                <a:solidFill>
                  <a:srgbClr val="FFFFFF"/>
                </a:solidFill>
              </a:rPr>
              <a:t>We pick a real open issue from your backlog and deliver it with Bob, judged against your codebase and your CI.</a:t>
            </a:r>
            <a:endParaRPr lang="en-US" sz="1400" dirty="0"/>
          </a:p>
        </p:txBody>
      </p:sp>
      <p:sp>
        <p:nvSpPr>
          <p:cNvPr id="17" name="option 3"/>
          <p:cNvSpPr/>
          <p:nvPr/>
        </p:nvSpPr>
        <p:spPr>
          <a:xfrm>
            <a:off x="8046720" y="1417320"/>
            <a:ext cx="3474720" cy="3429000"/>
          </a:xfrm>
          <a:prstGeom prst="roundRect">
            <a:avLst>
              <a:gd name="adj" fmla="val 4000"/>
            </a:avLst>
          </a:prstGeom>
          <a:solidFill>
            <a:srgbClr val="262626"/>
          </a:solidFill>
          <a:ln/>
        </p:spPr>
      </p:sp>
      <p:sp>
        <p:nvSpPr>
          <p:cNvPr id="18" name="option 3 circle"/>
          <p:cNvSpPr/>
          <p:nvPr/>
        </p:nvSpPr>
        <p:spPr>
          <a:xfrm>
            <a:off x="8321040" y="1691640"/>
            <a:ext cx="731520" cy="731520"/>
          </a:xfrm>
          <a:prstGeom prst="ellipse">
            <a:avLst/>
          </a:prstGeom>
          <a:solidFill>
            <a:srgbClr val="0F62FE"/>
          </a:solidFill>
          <a:ln/>
        </p:spPr>
      </p:sp>
      <p:pic>
        <p:nvPicPr>
          <p:cNvPr id="19" name="option 3 icon" descr="preencoded.png">    </p:cNvPr>
          <p:cNvPicPr>
            <a:picLocks noChangeAspect="1"/>
          </p:cNvPicPr>
          <p:nvPr/>
        </p:nvPicPr>
        <p:blipFill>
          <a:blip r:embed="rId3"/>
          <a:stretch>
            <a:fillRect/>
          </a:stretch>
        </p:blipFill>
        <p:spPr>
          <a:xfrm>
            <a:off x="8503920" y="1874520"/>
            <a:ext cx="365760" cy="365760"/>
          </a:xfrm>
          <a:prstGeom prst="rect">
            <a:avLst/>
          </a:prstGeom>
        </p:spPr>
      </p:pic>
      <p:sp>
        <p:nvSpPr>
          <p:cNvPr id="20" name="Text 15"/>
          <p:cNvSpPr txBox="1"/>
          <p:nvPr/>
        </p:nvSpPr>
        <p:spPr>
          <a:xfrm>
            <a:off x="9235440" y="1737360"/>
            <a:ext cx="2103120" cy="274320"/>
          </a:xfrm>
          <a:prstGeom prst="rect">
            <a:avLst/>
          </a:prstGeom>
          <a:noFill/>
          <a:ln/>
        </p:spPr>
        <p:txBody>
          <a:bodyPr wrap="square" lIns="0" tIns="0" rIns="0" bIns="0" rtlCol="0" anchor="ctr"/>
          <a:lstStyle/>
          <a:p>
            <a:pPr indent="0" marL="0">
              <a:buNone/>
            </a:pPr>
            <a:r>
              <a:rPr lang="en-US" sz="1100" b="1" dirty="0">
                <a:solidFill>
                  <a:srgbClr val="A8A8A8"/>
                </a:solidFill>
              </a:rPr>
              <a:t>OPTION 3</a:t>
            </a:r>
            <a:endParaRPr lang="en-US" sz="1100" dirty="0"/>
          </a:p>
        </p:txBody>
      </p:sp>
      <p:sp>
        <p:nvSpPr>
          <p:cNvPr id="21" name="Text 16"/>
          <p:cNvSpPr txBox="1"/>
          <p:nvPr/>
        </p:nvSpPr>
        <p:spPr>
          <a:xfrm>
            <a:off x="9235440" y="2011680"/>
            <a:ext cx="2194560" cy="365760"/>
          </a:xfrm>
          <a:prstGeom prst="rect">
            <a:avLst/>
          </a:prstGeom>
          <a:noFill/>
          <a:ln/>
        </p:spPr>
        <p:txBody>
          <a:bodyPr wrap="square" lIns="0" tIns="0" rIns="0" bIns="0" rtlCol="0" anchor="ctr"/>
          <a:lstStyle/>
          <a:p>
            <a:pPr indent="0" marL="0">
              <a:buNone/>
            </a:pPr>
            <a:r>
              <a:rPr lang="en-US" sz="1300" b="1" dirty="0">
                <a:solidFill>
                  <a:srgbClr val="08BDBA"/>
                </a:solidFill>
              </a:rPr>
              <a:t>90 minutes</a:t>
            </a:r>
            <a:endParaRPr lang="en-US" sz="1300" dirty="0"/>
          </a:p>
        </p:txBody>
      </p:sp>
      <p:sp>
        <p:nvSpPr>
          <p:cNvPr id="22" name="Text 17"/>
          <p:cNvSpPr txBox="1"/>
          <p:nvPr/>
        </p:nvSpPr>
        <p:spPr>
          <a:xfrm>
            <a:off x="8321040" y="2651760"/>
            <a:ext cx="3017520" cy="457200"/>
          </a:xfrm>
          <a:prstGeom prst="rect">
            <a:avLst/>
          </a:prstGeom>
          <a:noFill/>
          <a:ln/>
        </p:spPr>
        <p:txBody>
          <a:bodyPr wrap="square" lIns="0" tIns="0" rIns="0" bIns="0" rtlCol="0" anchor="ctr"/>
          <a:lstStyle/>
          <a:p>
            <a:pPr indent="0" marL="0">
              <a:buNone/>
            </a:pPr>
            <a:r>
              <a:rPr lang="en-US" sz="2000" b="1" dirty="0">
                <a:solidFill>
                  <a:srgbClr val="FFFFFF"/>
                </a:solidFill>
              </a:rPr>
              <a:t>Technical deep dive</a:t>
            </a:r>
            <a:endParaRPr lang="en-US" sz="2000" dirty="0"/>
          </a:p>
        </p:txBody>
      </p:sp>
      <p:sp>
        <p:nvSpPr>
          <p:cNvPr id="23" name="Text 18"/>
          <p:cNvSpPr txBox="1"/>
          <p:nvPr/>
        </p:nvSpPr>
        <p:spPr>
          <a:xfrm>
            <a:off x="8321040" y="3154680"/>
            <a:ext cx="3017520" cy="1554480"/>
          </a:xfrm>
          <a:prstGeom prst="rect">
            <a:avLst/>
          </a:prstGeom>
          <a:noFill/>
          <a:ln/>
        </p:spPr>
        <p:txBody>
          <a:bodyPr wrap="square" lIns="0" tIns="0" rIns="0" bIns="0" rtlCol="0" anchor="t"/>
          <a:lstStyle/>
          <a:p>
            <a:pPr indent="0" marL="0">
              <a:buNone/>
            </a:pPr>
            <a:r>
              <a:rPr lang="en-US" sz="1400" dirty="0">
                <a:solidFill>
                  <a:srgbClr val="C6C6C6"/>
                </a:solidFill>
              </a:rPr>
              <a:t>Architecture review with your engineering and security leads: approval gates, CI integration, branch strategy.</a:t>
            </a:r>
            <a:endParaRPr lang="en-US" sz="1400" dirty="0"/>
          </a:p>
        </p:txBody>
      </p:sp>
      <p:sp>
        <p:nvSpPr>
          <p:cNvPr id="24" name="Text 19"/>
          <p:cNvSpPr txBox="1"/>
          <p:nvPr/>
        </p:nvSpPr>
        <p:spPr>
          <a:xfrm>
            <a:off x="548640" y="5120640"/>
            <a:ext cx="2743200" cy="274320"/>
          </a:xfrm>
          <a:prstGeom prst="rect">
            <a:avLst/>
          </a:prstGeom>
          <a:noFill/>
          <a:ln/>
        </p:spPr>
        <p:txBody>
          <a:bodyPr wrap="square" lIns="0" tIns="0" rIns="0" bIns="0" rtlCol="0" anchor="ctr"/>
          <a:lstStyle/>
          <a:p>
            <a:pPr indent="0" marL="0">
              <a:buNone/>
            </a:pPr>
            <a:r>
              <a:rPr lang="en-US" sz="1200" b="1" dirty="0">
                <a:solidFill>
                  <a:schemeClr val="accent2"/>
                </a:solidFill>
              </a:rPr>
              <a:t>PROPOSED PLAN</a:t>
            </a:r>
            <a:endParaRPr lang="en-US" sz="1200" dirty="0"/>
          </a:p>
        </p:txBody>
      </p:sp>
      <p:sp>
        <p:nvSpPr>
          <p:cNvPr id="25" name="Text 20"/>
          <p:cNvSpPr txBox="1"/>
          <p:nvPr/>
        </p:nvSpPr>
        <p:spPr>
          <a:xfrm>
            <a:off x="548640" y="5440680"/>
            <a:ext cx="3474720" cy="685800"/>
          </a:xfrm>
          <a:prstGeom prst="rect">
            <a:avLst/>
          </a:prstGeom>
          <a:noFill/>
          <a:ln/>
        </p:spPr>
        <p:txBody>
          <a:bodyPr wrap="square" lIns="0" tIns="0" rIns="0" bIns="0" rtlCol="0" anchor="t"/>
          <a:lstStyle/>
          <a:p>
            <a:pPr indent="0" marL="0">
              <a:buNone/>
            </a:pPr>
            <a:r>
              <a:rPr lang="en-US" sz="1400" b="1" dirty="0">
                <a:solidFill>
                  <a:srgbClr val="FFFFFF"/>
                </a:solidFill>
              </a:rPr>
              <a:t>This week  </a:t>
            </a:r>
            <a:pPr indent="0" marL="0">
              <a:buNone/>
            </a:pPr>
            <a:r>
              <a:rPr lang="en-US" sz="1400" dirty="0">
                <a:solidFill>
                  <a:srgbClr val="C6C6C6"/>
                </a:solidFill>
              </a:rPr>
              <a:t>30-min scoping call: pick the issue and repo</a:t>
            </a:r>
            <a:endParaRPr lang="en-US" sz="1400" dirty="0"/>
          </a:p>
        </p:txBody>
      </p:sp>
      <p:sp>
        <p:nvSpPr>
          <p:cNvPr id="26" name="Text 21"/>
          <p:cNvSpPr txBox="1"/>
          <p:nvPr/>
        </p:nvSpPr>
        <p:spPr>
          <a:xfrm>
            <a:off x="4297680" y="5440680"/>
            <a:ext cx="3474720" cy="685800"/>
          </a:xfrm>
          <a:prstGeom prst="rect">
            <a:avLst/>
          </a:prstGeom>
          <a:noFill/>
          <a:ln/>
        </p:spPr>
        <p:txBody>
          <a:bodyPr wrap="square" lIns="0" tIns="0" rIns="0" bIns="0" rtlCol="0" anchor="t"/>
          <a:lstStyle/>
          <a:p>
            <a:pPr indent="0" marL="0">
              <a:buNone/>
            </a:pPr>
            <a:r>
              <a:rPr lang="en-US" sz="1400" b="1" dirty="0">
                <a:solidFill>
                  <a:srgbClr val="FFFFFF"/>
                </a:solidFill>
              </a:rPr>
              <a:t>Week 2  </a:t>
            </a:r>
            <a:pPr indent="0" marL="0">
              <a:buNone/>
            </a:pPr>
            <a:r>
              <a:rPr lang="en-US" sz="1400" dirty="0">
                <a:solidFill>
                  <a:srgbClr val="C6C6C6"/>
                </a:solidFill>
              </a:rPr>
              <a:t>PoX kickoff with two Harborline developers</a:t>
            </a:r>
            <a:endParaRPr lang="en-US" sz="1400" dirty="0"/>
          </a:p>
        </p:txBody>
      </p:sp>
      <p:sp>
        <p:nvSpPr>
          <p:cNvPr id="27" name="Text 22"/>
          <p:cNvSpPr txBox="1"/>
          <p:nvPr/>
        </p:nvSpPr>
        <p:spPr>
          <a:xfrm>
            <a:off x="8046720" y="5440680"/>
            <a:ext cx="3474720" cy="685800"/>
          </a:xfrm>
          <a:prstGeom prst="rect">
            <a:avLst/>
          </a:prstGeom>
          <a:noFill/>
          <a:ln/>
        </p:spPr>
        <p:txBody>
          <a:bodyPr wrap="square" lIns="0" tIns="0" rIns="0" bIns="0" rtlCol="0" anchor="t"/>
          <a:lstStyle/>
          <a:p>
            <a:pPr indent="0" marL="0">
              <a:buNone/>
            </a:pPr>
            <a:r>
              <a:rPr lang="en-US" sz="1400" b="1" dirty="0">
                <a:solidFill>
                  <a:srgbClr val="FFFFFF"/>
                </a:solidFill>
              </a:rPr>
              <a:t>Week 4  </a:t>
            </a:r>
            <a:pPr indent="0" marL="0">
              <a:buNone/>
            </a:pPr>
            <a:r>
              <a:rPr lang="en-US" sz="1400" dirty="0">
                <a:solidFill>
                  <a:srgbClr val="C6C6C6"/>
                </a:solidFill>
              </a:rPr>
              <a:t>Readout: results vs. your CI and review standards</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8A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280160"/>
            <a:ext cx="64008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THANK YOU</a:t>
            </a:r>
            <a:endParaRPr lang="en-US" sz="1400" dirty="0"/>
          </a:p>
        </p:txBody>
      </p:sp>
      <p:sp>
        <p:nvSpPr>
          <p:cNvPr id="3" name="Text 0"/>
          <p:cNvSpPr/>
          <p:nvPr>
            <p:ph idx="100" type="title" hasCustomPrompt="1"/>
          </p:nvPr>
        </p:nvSpPr>
        <p:spPr>
          <a:xfrm>
            <a:off x="548640" y="1828800"/>
            <a:ext cx="6949440" cy="2011680"/>
          </a:xfrm>
          <a:prstGeom prst="rect">
            <a:avLst/>
          </a:prstGeom>
          <a:noFill/>
          <a:ln/>
        </p:spPr>
        <p:txBody>
          <a:bodyPr wrap="square" lIns="0" tIns="0" rIns="0" bIns="0" rtlCol="0" anchor="t"/>
          <a:lstStyle/>
          <a:p>
            <a:pPr algn="l" indent="0" marL="0">
              <a:buNone/>
            </a:pPr>
            <a:r>
              <a:rPr lang="en-US" sz="4000" b="1" dirty="0">
                <a:solidFill>
                  <a:schemeClr val="bg1"/>
                </a:solidFill>
              </a:rPr>
              <a:t>Which would be most useful to explore first?</a:t>
            </a:r>
            <a:endParaRPr lang="en-US" sz="4000" dirty="0"/>
          </a:p>
        </p:txBody>
      </p:sp>
      <p:sp>
        <p:nvSpPr>
          <p:cNvPr id="4" name="Text 0"/>
          <p:cNvSpPr/>
          <p:nvPr>
            <p:ph idx="101" type="body" hasCustomPrompt="1"/>
          </p:nvPr>
        </p:nvSpPr>
        <p:spPr>
          <a:xfrm>
            <a:off x="548640" y="3977640"/>
            <a:ext cx="6400800" cy="914400"/>
          </a:xfrm>
          <a:prstGeom prst="rect">
            <a:avLst/>
          </a:prstGeom>
          <a:noFill/>
          <a:ln/>
        </p:spPr>
        <p:txBody>
          <a:bodyPr wrap="square" lIns="0" tIns="0" rIns="0" bIns="0" rtlCol="0" anchor="t"/>
          <a:lstStyle/>
          <a:p>
            <a:pPr algn="l" indent="0" marL="0">
              <a:buNone/>
            </a:pPr>
            <a:r>
              <a:rPr lang="en-US" sz="1800" dirty="0">
                <a:solidFill>
                  <a:srgbClr val="C6C6C6"/>
                </a:solidFill>
              </a:rPr>
              <a:t>Workshop  ·  Proof of Experience  ·  Technical deep dive</a:t>
            </a:r>
            <a:endParaRPr lang="en-US" sz="1800" dirty="0"/>
          </a:p>
        </p:txBody>
      </p:sp>
      <p:sp>
        <p:nvSpPr>
          <p:cNvPr id="5" name="Text 3"/>
          <p:cNvSpPr txBox="1"/>
          <p:nvPr/>
        </p:nvSpPr>
        <p:spPr>
          <a:xfrm>
            <a:off x="548640" y="5212080"/>
            <a:ext cx="6858000" cy="640080"/>
          </a:xfrm>
          <a:prstGeom prst="rect">
            <a:avLst/>
          </a:prstGeom>
          <a:noFill/>
          <a:ln/>
        </p:spPr>
        <p:txBody>
          <a:bodyPr wrap="square" lIns="0" tIns="0" rIns="0" bIns="0" rtlCol="0" anchor="ctr"/>
          <a:lstStyle/>
          <a:p>
            <a:pPr indent="0" marL="0">
              <a:buNone/>
            </a:pPr>
            <a:r>
              <a:rPr lang="en-US" sz="1400" b="1" dirty="0">
                <a:solidFill>
                  <a:srgbClr val="FFFFFF"/>
                </a:solidFill>
              </a:rPr>
              <a:t>Dr. George Cross IV</a:t>
            </a:r>
            <a:endParaRPr lang="en-US" sz="1400" dirty="0"/>
          </a:p>
          <a:p>
            <a:pPr indent="0" marL="0">
              <a:buNone/>
            </a:pPr>
            <a:r>
              <a:rPr lang="en-US" sz="1400" dirty="0">
                <a:solidFill>
                  <a:srgbClr val="A8A8A8"/>
                </a:solidFill>
              </a:rPr>
              <a:t>IBM  |  Let's schedule the scoping call before we leave today</a:t>
            </a:r>
            <a:endParaRPr lang="en-US" sz="1400" dirty="0"/>
          </a:p>
        </p:txBody>
      </p:sp>
      <p:sp>
        <p:nvSpPr>
          <p:cNvPr id="6" name="question circle"/>
          <p:cNvSpPr/>
          <p:nvPr/>
        </p:nvSpPr>
        <p:spPr>
          <a:xfrm>
            <a:off x="8778240" y="2011680"/>
            <a:ext cx="2194560" cy="2194560"/>
          </a:xfrm>
          <a:prstGeom prst="ellipse">
            <a:avLst/>
          </a:prstGeom>
          <a:solidFill>
            <a:srgbClr val="0F62FE"/>
          </a:solidFill>
          <a:ln/>
        </p:spPr>
      </p:sp>
      <p:pic>
        <p:nvPicPr>
          <p:cNvPr id="7" name="question icon" descr="preencoded.png">    </p:cNvPr>
          <p:cNvPicPr>
            <a:picLocks noChangeAspect="1"/>
          </p:cNvPicPr>
          <p:nvPr/>
        </p:nvPicPr>
        <p:blipFill>
          <a:blip r:embed="rId1"/>
          <a:stretch>
            <a:fillRect/>
          </a:stretch>
        </p:blipFill>
        <p:spPr>
          <a:xfrm>
            <a:off x="9326880" y="2560320"/>
            <a:ext cx="1097280" cy="10972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Presenter guide: scoring 5 of 5</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377440"/>
                <a:gridCol w="4206240"/>
                <a:gridCol w="1371600"/>
                <a:gridCol w="3108960"/>
              </a:tblGrid>
              <a:tr h="411480">
                <a:tc>
                  <a:txBody>
                    <a:bodyPr/>
                    <a:lstStyle/>
                    <a:p>
                      <a:pPr indent="0" marL="0">
                        <a:buNone/>
                      </a:pPr>
                      <a:r>
                        <a:rPr lang="en-US" sz="1400" b="1" dirty="0">
                          <a:solidFill>
                            <a:srgbClr val="FFFFFF"/>
                          </a:solidFill>
                        </a:rPr>
                        <a:t>Checklist item</a:t>
                      </a:r>
                      <a:endParaRPr lang="en-US" sz="1400" dirty="0"/>
                    </a:p>
                  </a:txBody>
                  <a:tcPr marL="91440" marR="91440" marT="91440" marB="9144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61616"/>
                    </a:solidFill>
                  </a:tcPr>
                </a:tc>
                <a:tc>
                  <a:txBody>
                    <a:bodyPr/>
                    <a:lstStyle/>
                    <a:p>
                      <a:pPr indent="0" marL="0">
                        <a:buNone/>
                      </a:pPr>
                      <a:r>
                        <a:rPr lang="en-US" sz="1400" b="1" dirty="0">
                          <a:solidFill>
                            <a:srgbClr val="FFFFFF"/>
                          </a:solidFill>
                        </a:rPr>
                        <a:t>What earns a 4–5</a:t>
                      </a:r>
                      <a:endParaRPr lang="en-US" sz="1400" dirty="0"/>
                    </a:p>
                  </a:txBody>
                  <a:tcPr marL="91440" marR="91440" marT="91440" marB="9144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61616"/>
                    </a:solidFill>
                  </a:tcPr>
                </a:tc>
                <a:tc>
                  <a:txBody>
                    <a:bodyPr/>
                    <a:lstStyle/>
                    <a:p>
                      <a:pPr indent="0" marL="0">
                        <a:buNone/>
                      </a:pPr>
                      <a:r>
                        <a:rPr lang="en-US" sz="1400" b="1" dirty="0">
                          <a:solidFill>
                            <a:srgbClr val="FFFFFF"/>
                          </a:solidFill>
                        </a:rPr>
                        <a:t>Where</a:t>
                      </a:r>
                      <a:endParaRPr lang="en-US" sz="1400" dirty="0"/>
                    </a:p>
                  </a:txBody>
                  <a:tcPr marL="91440" marR="91440" marT="91440" marB="9144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61616"/>
                    </a:solidFill>
                  </a:tcPr>
                </a:tc>
                <a:tc>
                  <a:txBody>
                    <a:bodyPr/>
                    <a:lstStyle/>
                    <a:p>
                      <a:pPr indent="0" marL="0">
                        <a:buNone/>
                      </a:pPr>
                      <a:r>
                        <a:rPr lang="en-US" sz="1400" b="1" dirty="0">
                          <a:solidFill>
                            <a:srgbClr val="FFFFFF"/>
                          </a:solidFill>
                        </a:rPr>
                        <a:t>Must-say line</a:t>
                      </a:r>
                      <a:endParaRPr lang="en-US" sz="1400" dirty="0"/>
                    </a:p>
                  </a:txBody>
                  <a:tcPr marL="91440" marR="91440" marT="91440" marB="9144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61616"/>
                    </a:solidFill>
                  </a:tcPr>
                </a:tc>
              </a:tr>
              <a:tr h="1143000">
                <a:tc>
                  <a:txBody>
                    <a:bodyPr/>
                    <a:lstStyle/>
                    <a:p>
                      <a:pPr indent="0" marL="0">
                        <a:buNone/>
                      </a:pPr>
                      <a:r>
                        <a:rPr lang="en-US" sz="1300" b="1" dirty="0">
                          <a:solidFill>
                            <a:srgbClr val="161616"/>
                          </a:solidFill>
                        </a:rPr>
                        <a:t>Client pain point(s) and value proposition of IBM Bob</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Pains are specific to a named client, quantified, and confirmed with a question. Value prop stated in one sentence and mapped back to each pain.</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Slides 2, 3, 4, 9</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i="1" dirty="0">
                          <a:solidFill>
                            <a:srgbClr val="161616"/>
                          </a:solidFill>
                        </a:rPr>
                        <a:t>"Bob extends each developer's reach from a GitHub issue to a green PR, while the developer stays in control."</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1143000">
                <a:tc>
                  <a:txBody>
                    <a:bodyPr/>
                    <a:lstStyle/>
                    <a:p>
                      <a:pPr indent="0" marL="0">
                        <a:buNone/>
                      </a:pPr>
                      <a:r>
                        <a:rPr lang="en-US" sz="1300" b="1" dirty="0">
                          <a:solidFill>
                            <a:srgbClr val="161616"/>
                          </a:solidFill>
                        </a:rPr>
                        <a:t>Use cases for IBM Bob</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Several distinct use cases named up front, then shown live across the whole loop: plan, scaffold, issue-driven dev, tests, validation, CI, PR.</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Slides 5, 6, 7, 8</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i="1" dirty="0">
                          <a:solidFill>
                            <a:srgbClr val="161616"/>
                          </a:solidFill>
                        </a:rPr>
                        <a:t>"This is the approval gate. I'm in control of what gets written."</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1143000">
                <a:tc>
                  <a:txBody>
                    <a:bodyPr/>
                    <a:lstStyle/>
                    <a:p>
                      <a:pPr indent="0" marL="0">
                        <a:buNone/>
                      </a:pPr>
                      <a:r>
                        <a:rPr lang="en-US" sz="1300" b="1" dirty="0">
                          <a:solidFill>
                            <a:srgbClr val="161616"/>
                          </a:solidFill>
                        </a:rPr>
                        <a:t>Close with a call to action</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Offer options (workshop, PoX, deep dive), recommend one, propose concrete dates, and end with a direct question, then stop talking.</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Slides 10, 11</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i="1" dirty="0">
                          <a:solidFill>
                            <a:srgbClr val="161616"/>
                          </a:solidFill>
                        </a:rPr>
                        <a:t>"Which would be most useful to explore first?"</a:t>
                      </a:r>
                      <a:endParaRPr lang="en-US" sz="1300" dirty="0"/>
                    </a:p>
                  </a:txBody>
                  <a:tcPr marL="91440" marR="91440" marT="91440" marB="91440"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15000"/>
            <a:ext cx="11064240" cy="457200"/>
          </a:xfrm>
          <a:prstGeom prst="rect">
            <a:avLst/>
          </a:prstGeom>
          <a:noFill/>
          <a:ln/>
        </p:spPr>
        <p:txBody>
          <a:bodyPr wrap="square" lIns="0" tIns="0" rIns="0" bIns="0" rtlCol="0" anchor="ctr"/>
          <a:lstStyle/>
          <a:p>
            <a:pPr indent="0" marL="0">
              <a:buNone/>
            </a:pPr>
            <a:r>
              <a:rPr lang="en-US" sz="1400" dirty="0">
                <a:solidFill>
                  <a:srgbClr val="525252"/>
                </a:solidFill>
              </a:rPr>
              <a:t>Also scored implicitly: a fictional client and scenario (Harborline), Bob shown inside the GitHub loop, and staying within 10–15 minutes.</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F6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Run of show and pre-flight</a:t>
            </a:r>
            <a:endParaRPr lang="en-US" sz="3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669280" cy="914400"/>
        </p:xfrm>
        <a:graphic>
          <a:graphicData uri="http://schemas.openxmlformats.org/drawingml/2006/table">
            <a:tbl>
              <a:tblPr/>
              <a:tblGrid>
                <a:gridCol w="1005840"/>
                <a:gridCol w="3566160"/>
                <a:gridCol w="1097280"/>
              </a:tblGrid>
              <a:tr h="457200">
                <a:tc>
                  <a:txBody>
                    <a:bodyPr/>
                    <a:lstStyle/>
                    <a:p>
                      <a:pPr indent="0" marL="0">
                        <a:buNone/>
                      </a:pPr>
                      <a:r>
                        <a:rPr lang="en-US" sz="1400" b="1" dirty="0">
                          <a:solidFill>
                            <a:srgbClr val="FFFFFF"/>
                          </a:solidFill>
                        </a:rPr>
                        <a:t>Slides</a:t>
                      </a:r>
                      <a:endParaRPr lang="en-US" sz="1400" dirty="0"/>
                    </a:p>
                  </a:txBody>
                  <a:tcPr marL="73152" marR="73152" marT="73152" marB="73152">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61616"/>
                    </a:solidFill>
                  </a:tcPr>
                </a:tc>
                <a:tc>
                  <a:txBody>
                    <a:bodyPr/>
                    <a:lstStyle/>
                    <a:p>
                      <a:pPr indent="0" marL="0">
                        <a:buNone/>
                      </a:pPr>
                      <a:r>
                        <a:rPr lang="en-US" sz="1400" b="1" dirty="0">
                          <a:solidFill>
                            <a:srgbClr val="FFFFFF"/>
                          </a:solidFill>
                        </a:rPr>
                        <a:t>Segment</a:t>
                      </a:r>
                      <a:endParaRPr lang="en-US" sz="1400" dirty="0"/>
                    </a:p>
                  </a:txBody>
                  <a:tcPr marL="73152" marR="73152" marT="73152" marB="73152">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61616"/>
                    </a:solidFill>
                  </a:tcPr>
                </a:tc>
                <a:tc>
                  <a:txBody>
                    <a:bodyPr/>
                    <a:lstStyle/>
                    <a:p>
                      <a:pPr indent="0" marL="0">
                        <a:buNone/>
                      </a:pPr>
                      <a:r>
                        <a:rPr lang="en-US" sz="1400" b="1" dirty="0">
                          <a:solidFill>
                            <a:srgbClr val="FFFFFF"/>
                          </a:solidFill>
                        </a:rPr>
                        <a:t>Target</a:t>
                      </a:r>
                      <a:endParaRPr lang="en-US" sz="1400" dirty="0"/>
                    </a:p>
                  </a:txBody>
                  <a:tcPr marL="73152" marR="73152" marT="73152" marB="73152">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61616"/>
                    </a:solidFill>
                  </a:tcPr>
                </a:tc>
              </a:tr>
              <a:tr h="457200">
                <a:tc>
                  <a:txBody>
                    <a:bodyPr/>
                    <a:lstStyle/>
                    <a:p>
                      <a:pPr indent="0" marL="0">
                        <a:buNone/>
                      </a:pPr>
                      <a:r>
                        <a:rPr lang="en-US" sz="1300" dirty="0">
                          <a:solidFill>
                            <a:srgbClr val="161616"/>
                          </a:solidFill>
                        </a:rPr>
                        <a:t>1–5</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Open, pain, gap, value, use cases</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4:00</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61616"/>
                          </a:solidFill>
                        </a:rPr>
                        <a:t>6–7</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Demo roadmap + Part 1 recap</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1:35</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61616"/>
                          </a:solidFill>
                        </a:rPr>
                        <a:t>8</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Part 2 live: issue → PR</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5:30</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61616"/>
                          </a:solidFill>
                        </a:rPr>
                        <a:t>9</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What you saw</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0:45</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61616"/>
                          </a:solidFill>
                        </a:rPr>
                        <a:t>10–11</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Call to action + question</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161616"/>
                          </a:solidFill>
                        </a:rPr>
                        <a:t>1:50</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457200">
                <a:tc>
                  <a:txBody>
                    <a:bodyPr/>
                    <a:lstStyle/>
                    <a:p>
                      <a:pPr indent="0" marL="0">
                        <a:buNone/>
                      </a:pP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b="1" dirty="0">
                          <a:solidFill>
                            <a:srgbClr val="161616"/>
                          </a:solidFill>
                        </a:rPr>
                        <a:t>Total</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b="1" dirty="0">
                          <a:solidFill>
                            <a:srgbClr val="0F62FE"/>
                          </a:solidFill>
                        </a:rPr>
                        <a:t>13:40</a:t>
                      </a:r>
                      <a:endParaRPr lang="en-US" sz="1300" dirty="0"/>
                    </a:p>
                  </a:txBody>
                  <a:tcPr marL="73152" marR="73152" marT="73152" marB="73152" anchor="t">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
        <p:nvSpPr>
          <p:cNvPr id="4" name="preflight card"/>
          <p:cNvSpPr/>
          <p:nvPr/>
        </p:nvSpPr>
        <p:spPr>
          <a:xfrm>
            <a:off x="6675120" y="1417320"/>
            <a:ext cx="4937760" cy="4572000"/>
          </a:xfrm>
          <a:prstGeom prst="roundRect">
            <a:avLst>
              <a:gd name="adj" fmla="val 3000"/>
            </a:avLst>
          </a:prstGeom>
          <a:solidFill>
            <a:schemeClr val="bg2"/>
          </a:solidFill>
          <a:ln/>
        </p:spPr>
      </p:sp>
      <p:sp>
        <p:nvSpPr>
          <p:cNvPr id="5" name="preflight circle"/>
          <p:cNvSpPr/>
          <p:nvPr/>
        </p:nvSpPr>
        <p:spPr>
          <a:xfrm>
            <a:off x="6949440" y="1645920"/>
            <a:ext cx="548640" cy="548640"/>
          </a:xfrm>
          <a:prstGeom prst="ellipse">
            <a:avLst/>
          </a:prstGeom>
          <a:solidFill>
            <a:srgbClr val="24A148"/>
          </a:solidFill>
          <a:ln/>
        </p:spPr>
      </p:sp>
      <p:pic>
        <p:nvPicPr>
          <p:cNvPr id="6" name="preflight icon" descr="preencoded.png">    </p:cNvPr>
          <p:cNvPicPr>
            <a:picLocks noChangeAspect="1"/>
          </p:cNvPicPr>
          <p:nvPr/>
        </p:nvPicPr>
        <p:blipFill>
          <a:blip r:embed="rId1"/>
          <a:stretch>
            <a:fillRect/>
          </a:stretch>
        </p:blipFill>
        <p:spPr>
          <a:xfrm>
            <a:off x="7086600" y="1783080"/>
            <a:ext cx="274320" cy="274320"/>
          </a:xfrm>
          <a:prstGeom prst="rect">
            <a:avLst/>
          </a:prstGeom>
        </p:spPr>
      </p:pic>
      <p:sp>
        <p:nvSpPr>
          <p:cNvPr id="7" name="Text 3"/>
          <p:cNvSpPr txBox="1"/>
          <p:nvPr/>
        </p:nvSpPr>
        <p:spPr>
          <a:xfrm>
            <a:off x="7635240" y="1645920"/>
            <a:ext cx="2743200" cy="548640"/>
          </a:xfrm>
          <a:prstGeom prst="rect">
            <a:avLst/>
          </a:prstGeom>
          <a:noFill/>
          <a:ln/>
        </p:spPr>
        <p:txBody>
          <a:bodyPr wrap="square" lIns="0" tIns="0" rIns="0" bIns="0" rtlCol="0" anchor="ctr"/>
          <a:lstStyle/>
          <a:p>
            <a:pPr indent="0" marL="0">
              <a:buNone/>
            </a:pPr>
            <a:r>
              <a:rPr lang="en-US" sz="1600" b="1" dirty="0">
                <a:solidFill>
                  <a:schemeClr val="tx1"/>
                </a:solidFill>
              </a:rPr>
              <a:t>PRE-FLIGHT</a:t>
            </a:r>
            <a:endParaRPr lang="en-US" sz="1600" dirty="0"/>
          </a:p>
        </p:txBody>
      </p:sp>
      <p:sp>
        <p:nvSpPr>
          <p:cNvPr id="8" name="Text 4"/>
          <p:cNvSpPr txBox="1"/>
          <p:nvPr/>
        </p:nvSpPr>
        <p:spPr>
          <a:xfrm>
            <a:off x="6949440" y="2377440"/>
            <a:ext cx="448056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Bob IDE open, workshop repo in Explorer</a:t>
            </a:r>
            <a:endParaRPr lang="en-US" sz="1400" dirty="0"/>
          </a:p>
          <a:p>
            <a:pPr marL="342900" indent="-342900">
              <a:spcAft>
                <a:spcPts val="800"/>
              </a:spcAft>
              <a:buSzPct val="100000"/>
              <a:buChar char="•"/>
            </a:pPr>
            <a:r>
              <a:rPr lang="en-US" sz="1400" dirty="0">
                <a:solidFill>
                  <a:schemeClr val="tx1"/>
                </a:solidFill>
              </a:rPr>
              <a:t>Branch feature/initial-finance-dashboard checked out</a:t>
            </a:r>
            <a:endParaRPr lang="en-US" sz="1400" dirty="0"/>
          </a:p>
          <a:p>
            <a:pPr marL="342900" indent="-342900">
              <a:spcAft>
                <a:spcPts val="800"/>
              </a:spcAft>
              <a:buSzPct val="100000"/>
              <a:buChar char="•"/>
            </a:pPr>
            <a:r>
              <a:rPr lang="en-US" sz="1400" dirty="0">
                <a:solidFill>
                  <a:schemeClr val="tx1"/>
                </a:solidFill>
              </a:rPr>
              <a:t>GitHub repo live; Issue #1 open</a:t>
            </a:r>
            <a:endParaRPr lang="en-US" sz="1400" dirty="0"/>
          </a:p>
          <a:p>
            <a:pPr marL="342900" indent="-342900">
              <a:spcAft>
                <a:spcPts val="800"/>
              </a:spcAft>
              <a:buSzPct val="100000"/>
              <a:buChar char="•"/>
            </a:pPr>
            <a:r>
              <a:rPr lang="en-US" sz="1400" dirty="0">
                <a:solidFill>
                  <a:schemeClr val="tx1"/>
                </a:solidFill>
              </a:rPr>
              <a:t>Browser tabs: Issues, Actions, Pull requests</a:t>
            </a:r>
            <a:endParaRPr lang="en-US" sz="1400" dirty="0"/>
          </a:p>
          <a:p>
            <a:pPr marL="342900" indent="-342900">
              <a:spcAft>
                <a:spcPts val="800"/>
              </a:spcAft>
              <a:buSzPct val="100000"/>
              <a:buChar char="•"/>
            </a:pPr>
            <a:r>
              <a:rPr lang="en-US" sz="1400" dirty="0">
                <a:solidFill>
                  <a:schemeClr val="tx1"/>
                </a:solidFill>
              </a:rPr>
              <a:t>App running at localhost:5173 (mock mode)</a:t>
            </a:r>
            <a:endParaRPr lang="en-US" sz="1400" dirty="0"/>
          </a:p>
          <a:p>
            <a:pPr marL="342900" indent="-342900">
              <a:spcAft>
                <a:spcPts val="800"/>
              </a:spcAft>
              <a:buSzPct val="100000"/>
              <a:buChar char="•"/>
            </a:pPr>
            <a:r>
              <a:rPr lang="en-US" sz="1400" dirty="0">
                <a:solidFill>
                  <a:schemeClr val="tx1"/>
                </a:solidFill>
              </a:rPr>
              <a:t>Backup tab: a pre-recorded green CI run</a:t>
            </a:r>
            <a:endParaRPr lang="en-US" sz="1400" dirty="0"/>
          </a:p>
          <a:p>
            <a:pPr marL="342900" indent="-342900">
              <a:spcAft>
                <a:spcPts val="800"/>
              </a:spcAft>
              <a:buSzPct val="100000"/>
              <a:buChar char="•"/>
            </a:pPr>
            <a:r>
              <a:rPr lang="en-US" sz="1400" dirty="0">
                <a:solidFill>
                  <a:schemeClr val="tx1"/>
                </a:solidFill>
              </a:rPr>
              <a:t>Notifications off; font size up in IDE and terminal</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F6F"/>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IBM Bob SDLC">
  <a:themeElements>
    <a:clrScheme name="IBM Bob SDLC">
      <a:dk1>
        <a:srgbClr val="161616"/>
      </a:dk1>
      <a:lt1>
        <a:srgbClr val="FFFFFF"/>
      </a:lt1>
      <a:dk2>
        <a:srgbClr val="001D6C"/>
      </a:dk2>
      <a:lt2>
        <a:srgbClr val="F2F4F8"/>
      </a:lt2>
      <a:accent1>
        <a:srgbClr val="0F62FE"/>
      </a:accent1>
      <a:accent2>
        <a:srgbClr val="08BDBA"/>
      </a:accent2>
      <a:accent3>
        <a:srgbClr val="8A3FFC"/>
      </a:accent3>
      <a:accent4>
        <a:srgbClr val="24A148"/>
      </a:accent4>
      <a:accent5>
        <a:srgbClr val="DA1E28"/>
      </a:accent5>
      <a:accent6>
        <a:srgbClr val="F1C21B"/>
      </a:accent6>
      <a:hlink>
        <a:srgbClr val="0F62FE"/>
      </a:hlink>
      <a:folHlink>
        <a:srgbClr val="8A3FFC"/>
      </a:folHlink>
    </a:clrScheme>
    <a:fontScheme name="IBM Bob SDL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Bob — GitHub SDLC Automation for Harborline Financial</dc:title>
  <dc:subject>PptxGenJS Presentation</dc:subject>
  <dc:creator>Dr. George Cross IV</dc:creator>
  <cp:lastModifiedBy>Dr. George Cross IV</cp:lastModifiedBy>
  <cp:revision>1</cp:revision>
  <dcterms:created xsi:type="dcterms:W3CDTF">2026-10-20T03:15:27Z</dcterms:created>
  <dcterms:modified xsi:type="dcterms:W3CDTF">2026-10-20T03:15:27Z</dcterms:modified>
</cp:coreProperties>
</file>